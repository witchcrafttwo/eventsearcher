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73" r:id="rId5"/>
    <p:sldId id="274" r:id="rId6"/>
    <p:sldId id="269" r:id="rId7"/>
    <p:sldId id="270" r:id="rId8"/>
    <p:sldId id="266" r:id="rId9"/>
    <p:sldId id="260" r:id="rId10"/>
    <p:sldId id="261" r:id="rId11"/>
    <p:sldId id="272" r:id="rId12"/>
    <p:sldId id="263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231" autoAdjust="0"/>
  </p:normalViewPr>
  <p:slideViewPr>
    <p:cSldViewPr snapToGrid="0" snapToObjects="1">
      <p:cViewPr varScale="1">
        <p:scale>
          <a:sx n="76" d="100"/>
          <a:sy n="76" d="100"/>
        </p:scale>
        <p:origin x="687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64B9F-F516-4D3B-B2A7-4E3A69226596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E2EFF-F51A-46AE-AE2E-0D4A82970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2840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E2EFF-F51A-46AE-AE2E-0D4A8297086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5523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E2EFF-F51A-46AE-AE2E-0D4A82970860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4551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E2EFF-F51A-46AE-AE2E-0D4A82970860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8973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E2EFF-F51A-46AE-AE2E-0D4A82970860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176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E2EFF-F51A-46AE-AE2E-0D4A82970860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72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vent-searcher-server.vercel.app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vent-searcher-server.vercel.app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vent-searcher-server.vercel.app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event-searcher-server.vercel.app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ty.imabari.ehime.jp/event/" TargetMode="External"/><Relationship Id="rId2" Type="http://schemas.openxmlformats.org/officeDocument/2006/relationships/hyperlink" Target="https://www.city.matsuyama.ehime.jp/kanko/kankoguide/matsurievent/index.html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town.ainan.ehime.jp/kanko/sightseeing/matsuri/" TargetMode="External"/><Relationship Id="rId4" Type="http://schemas.openxmlformats.org/officeDocument/2006/relationships/hyperlink" Target="https://www.city.ozu.ehime.jp/soshiki/list6-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3118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4169664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3960" y="1477769"/>
            <a:ext cx="1033272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ja-JP" sz="5400" b="1" dirty="0">
                <a:solidFill>
                  <a:srgbClr val="FFFFFF"/>
                </a:solidFill>
                <a:latin typeface="Meiryo"/>
              </a:rPr>
              <a:t>【</a:t>
            </a:r>
            <a:r>
              <a:rPr lang="ja-JP" altLang="en-US" sz="5400" b="1" dirty="0">
                <a:solidFill>
                  <a:srgbClr val="FFFFFF"/>
                </a:solidFill>
                <a:latin typeface="Meiryo"/>
              </a:rPr>
              <a:t>タイトル</a:t>
            </a:r>
            <a:r>
              <a:rPr lang="en-US" altLang="ja-JP" sz="5400" b="1" dirty="0">
                <a:solidFill>
                  <a:srgbClr val="FFFFFF"/>
                </a:solidFill>
                <a:latin typeface="Meiryo"/>
              </a:rPr>
              <a:t>】</a:t>
            </a:r>
            <a:r>
              <a:rPr sz="5400" b="1" dirty="0" err="1">
                <a:solidFill>
                  <a:schemeClr val="accent6"/>
                </a:solidFill>
                <a:latin typeface="Meiryo"/>
              </a:rPr>
              <a:t>えひめイベントナビ</a:t>
            </a:r>
            <a:endParaRPr sz="5400" b="1" dirty="0">
              <a:solidFill>
                <a:schemeClr val="accent6"/>
              </a:solidFill>
              <a:latin typeface="Meiry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3960" y="2489547"/>
            <a:ext cx="10332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ja-JP" sz="2800" b="0" dirty="0">
                <a:solidFill>
                  <a:schemeClr val="bg1"/>
                </a:solidFill>
                <a:latin typeface="Meiryo"/>
              </a:rPr>
              <a:t>【</a:t>
            </a:r>
            <a:r>
              <a:rPr lang="ja-JP" altLang="en-US" sz="2800" b="0" dirty="0">
                <a:solidFill>
                  <a:schemeClr val="bg1"/>
                </a:solidFill>
                <a:latin typeface="Meiryo"/>
              </a:rPr>
              <a:t>サブタイトル</a:t>
            </a:r>
            <a:r>
              <a:rPr lang="en-US" altLang="ja-JP" sz="2800" b="0" dirty="0">
                <a:solidFill>
                  <a:schemeClr val="bg1"/>
                </a:solidFill>
                <a:latin typeface="Meiryo"/>
              </a:rPr>
              <a:t>】</a:t>
            </a:r>
            <a:r>
              <a:rPr lang="ja-JP" altLang="en-US" sz="2800" b="0" dirty="0">
                <a:solidFill>
                  <a:schemeClr val="accent6"/>
                </a:solidFill>
                <a:latin typeface="Meiryo"/>
              </a:rPr>
              <a:t>～あなたにぴったりのイベントが、自動で届く～</a:t>
            </a:r>
            <a:endParaRPr sz="2800" b="0" dirty="0">
              <a:solidFill>
                <a:schemeClr val="accent6"/>
              </a:solidFill>
              <a:latin typeface="Meiry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7138" y="5377640"/>
            <a:ext cx="10332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ja-JP" sz="2800" dirty="0">
                <a:solidFill>
                  <a:schemeClr val="bg1"/>
                </a:solidFill>
                <a:latin typeface="Meiryo"/>
              </a:rPr>
              <a:t>【</a:t>
            </a:r>
            <a:r>
              <a:rPr lang="ja-JP" altLang="en-US" sz="2800" dirty="0">
                <a:solidFill>
                  <a:schemeClr val="bg1"/>
                </a:solidFill>
                <a:latin typeface="Meiryo"/>
              </a:rPr>
              <a:t>所属・チーム名</a:t>
            </a:r>
            <a:r>
              <a:rPr lang="en-US" altLang="ja-JP" sz="2800" dirty="0">
                <a:solidFill>
                  <a:schemeClr val="bg1"/>
                </a:solidFill>
                <a:latin typeface="Meiryo"/>
              </a:rPr>
              <a:t>】</a:t>
            </a:r>
            <a:r>
              <a:rPr lang="ja-JP" altLang="en-US" sz="2800" dirty="0">
                <a:solidFill>
                  <a:schemeClr val="accent6"/>
                </a:solidFill>
                <a:latin typeface="Meiryo"/>
              </a:rPr>
              <a:t>人間環境大学　２年２組</a:t>
            </a:r>
            <a:endParaRPr sz="2800" b="0" dirty="0">
              <a:solidFill>
                <a:schemeClr val="accent6"/>
              </a:solidFill>
              <a:latin typeface="Meiryo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9E1587-7777-0C76-4F7A-AD4E9245725E}"/>
              </a:ext>
            </a:extLst>
          </p:cNvPr>
          <p:cNvSpPr txBox="1"/>
          <p:nvPr/>
        </p:nvSpPr>
        <p:spPr>
          <a:xfrm>
            <a:off x="1073960" y="3182043"/>
            <a:ext cx="73213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chemeClr val="bg1"/>
                </a:solidFill>
                <a:latin typeface="Meiryo"/>
              </a:rPr>
              <a:t>【</a:t>
            </a:r>
            <a:r>
              <a:rPr lang="ja-JP" altLang="en-US" sz="2400" dirty="0">
                <a:solidFill>
                  <a:schemeClr val="bg1"/>
                </a:solidFill>
                <a:latin typeface="Meiryo"/>
              </a:rPr>
              <a:t>選択したテーマ名</a:t>
            </a:r>
            <a:r>
              <a:rPr lang="en-US" altLang="ja-JP" sz="2400" dirty="0">
                <a:solidFill>
                  <a:schemeClr val="bg1"/>
                </a:solidFill>
                <a:latin typeface="Meiryo"/>
              </a:rPr>
              <a:t>】</a:t>
            </a:r>
            <a:r>
              <a:rPr lang="ja-JP" altLang="en-US" sz="2400" dirty="0">
                <a:solidFill>
                  <a:schemeClr val="accent6"/>
                </a:solidFill>
                <a:latin typeface="Meiryo"/>
              </a:rPr>
              <a:t>ライフスタイル・パーソナルナビ</a:t>
            </a:r>
          </a:p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dirty="0" err="1">
                <a:solidFill>
                  <a:srgbClr val="1E293B"/>
                </a:solidFill>
                <a:latin typeface="Meiryo"/>
              </a:rPr>
              <a:t>課題</a:t>
            </a:r>
            <a:endParaRPr sz="3000" b="1" dirty="0">
              <a:solidFill>
                <a:srgbClr val="1E293B"/>
              </a:solidFill>
              <a:latin typeface="Meiry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475569"/>
                </a:solidFill>
                <a:latin typeface="Meiryo"/>
              </a:rPr>
              <a:t>愛媛のイベント情報は散らばっている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0704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イベント情報が市役所・観光協会・商業施設など、サイトごとにバラバラ</a:t>
            </a:r>
            <a:endParaRPr sz="20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「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今週どこで何がある</a:t>
            </a:r>
            <a:r>
              <a:rPr sz="2000" b="1" dirty="0">
                <a:solidFill>
                  <a:srgbClr val="1E293B"/>
                </a:solidFill>
                <a:latin typeface="Meiryo"/>
              </a:rPr>
              <a:t>？」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を調べるのに複数サイトの巡回が必要</a:t>
            </a:r>
            <a:endParaRPr sz="20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地域や興味で横断的に探せる仕組みがない</a:t>
            </a:r>
            <a:endParaRPr sz="2000" b="1" dirty="0">
              <a:solidFill>
                <a:srgbClr val="1E293B"/>
              </a:solidFill>
              <a:latin typeface="Meiryo"/>
            </a:endParaRPr>
          </a:p>
          <a:p>
            <a:pPr lvl="1">
              <a:spcAft>
                <a:spcPts val="1000"/>
              </a:spcAft>
            </a:pPr>
            <a:r>
              <a:rPr sz="2400" b="0" dirty="0">
                <a:solidFill>
                  <a:srgbClr val="475569"/>
                </a:solidFill>
                <a:latin typeface="Meiryo"/>
              </a:rPr>
              <a:t> →</a:t>
            </a:r>
            <a:r>
              <a:rPr lang="ja-JP" altLang="en-US" sz="2400" b="0" dirty="0">
                <a:solidFill>
                  <a:srgbClr val="475569"/>
                </a:solidFill>
                <a:latin typeface="Meiryo"/>
              </a:rPr>
              <a:t>　</a:t>
            </a:r>
            <a:r>
              <a:rPr sz="2400" b="0" dirty="0">
                <a:solidFill>
                  <a:srgbClr val="475569"/>
                </a:solidFill>
                <a:latin typeface="Meiryo"/>
              </a:rPr>
              <a:t> </a:t>
            </a:r>
            <a:r>
              <a:rPr sz="2400" b="0" dirty="0" err="1">
                <a:solidFill>
                  <a:srgbClr val="475569"/>
                </a:solidFill>
                <a:latin typeface="Meiryo"/>
              </a:rPr>
              <a:t>一箇所にまとめて</a:t>
            </a:r>
            <a:endParaRPr lang="en-US" sz="2400" b="0" dirty="0">
              <a:solidFill>
                <a:srgbClr val="475569"/>
              </a:solidFill>
              <a:latin typeface="Meiryo"/>
            </a:endParaRPr>
          </a:p>
          <a:p>
            <a:pPr lvl="1">
              <a:spcAft>
                <a:spcPts val="1000"/>
              </a:spcAft>
            </a:pPr>
            <a:r>
              <a:rPr lang="ja-JP" altLang="en-US" sz="2400" b="0" dirty="0">
                <a:solidFill>
                  <a:srgbClr val="475569"/>
                </a:solidFill>
                <a:latin typeface="Meiryo"/>
              </a:rPr>
              <a:t>　　　　</a:t>
            </a:r>
            <a:r>
              <a:rPr sz="2400" b="0" dirty="0" err="1">
                <a:solidFill>
                  <a:srgbClr val="475569"/>
                </a:solidFill>
                <a:latin typeface="Meiryo"/>
              </a:rPr>
              <a:t>地域・カテゴリで探せるサービスが欲しい</a:t>
            </a:r>
            <a:endParaRPr sz="2400" b="0" dirty="0">
              <a:solidFill>
                <a:srgbClr val="475569"/>
              </a:solidFill>
              <a:latin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4DE8388-024F-7B21-CFCD-0E7A1C8F5F78}"/>
              </a:ext>
            </a:extLst>
          </p:cNvPr>
          <p:cNvSpPr txBox="1"/>
          <p:nvPr/>
        </p:nvSpPr>
        <p:spPr>
          <a:xfrm>
            <a:off x="685800" y="6248400"/>
            <a:ext cx="8153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hlinkClick r:id="rId2"/>
              </a:rPr>
              <a:t>https://event-searcher-server.vercel.app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73B317B6-F16F-3F7F-4ACB-C95408E61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362" y="2793799"/>
            <a:ext cx="3761958" cy="39605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6897" y="5943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eiryo"/>
              </a:rPr>
              <a:t>主な機能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15087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dirty="0" err="1">
                <a:solidFill>
                  <a:srgbClr val="2563EB"/>
                </a:solidFill>
                <a:latin typeface="Meiryo"/>
              </a:rPr>
              <a:t>ユーザー画面</a:t>
            </a:r>
            <a:endParaRPr sz="2400" b="1" dirty="0">
              <a:solidFill>
                <a:srgbClr val="2563EB"/>
              </a:solidFill>
              <a:latin typeface="Meiry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86933" y="3962936"/>
            <a:ext cx="5739441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  <a:ea typeface="Meiryo"/>
              </a:rPr>
              <a:t>キーワード検索（イベント名・会場・内容</a:t>
            </a:r>
            <a:r>
              <a:rPr sz="2000" b="1" dirty="0">
                <a:solidFill>
                  <a:srgbClr val="1E293B"/>
                </a:solidFill>
                <a:latin typeface="Meiryo"/>
                <a:ea typeface="Meiryo"/>
              </a:rPr>
              <a:t>）</a:t>
            </a:r>
            <a:endParaRPr sz="2000" b="1" dirty="0">
              <a:solidFill>
                <a:srgbClr val="1E293B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  <a:ea typeface="Meiryo"/>
              </a:rPr>
              <a:t>市町</a:t>
            </a:r>
            <a:r>
              <a:rPr sz="2000" b="1" dirty="0">
                <a:solidFill>
                  <a:srgbClr val="1E293B"/>
                </a:solidFill>
                <a:latin typeface="Meiryo"/>
                <a:ea typeface="Meiryo"/>
              </a:rPr>
              <a:t> × </a:t>
            </a:r>
            <a:r>
              <a:rPr sz="2000" b="1" dirty="0" err="1">
                <a:solidFill>
                  <a:srgbClr val="1E293B"/>
                </a:solidFill>
                <a:latin typeface="Meiryo"/>
                <a:ea typeface="Meiryo"/>
              </a:rPr>
              <a:t>カテゴリ（複数選択）で絞り込み</a:t>
            </a:r>
            <a:endParaRPr sz="2000" b="1" dirty="0">
              <a:solidFill>
                <a:srgbClr val="1E293B"/>
              </a:solidFill>
              <a:latin typeface="Meiryo"/>
              <a:ea typeface="Meiryo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  <a:ea typeface="Meiryo"/>
              </a:rPr>
              <a:t>終了イベントの非表示切替</a:t>
            </a:r>
            <a:endParaRPr sz="2000" b="1" dirty="0">
              <a:solidFill>
                <a:srgbClr val="1E293B"/>
              </a:solidFill>
              <a:latin typeface="Meiryo"/>
              <a:ea typeface="Meiryo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  <a:ea typeface="Meiryo"/>
              </a:rPr>
              <a:t>ブックマーク（localStorage保存</a:t>
            </a:r>
            <a:r>
              <a:rPr sz="2000" b="1" dirty="0">
                <a:solidFill>
                  <a:srgbClr val="1E293B"/>
                </a:solidFill>
                <a:latin typeface="Meiryo"/>
                <a:ea typeface="Meiryo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  <a:ea typeface="Meiryo"/>
              </a:rPr>
              <a:t>通知機能</a:t>
            </a:r>
            <a:endParaRPr sz="2000" b="1" dirty="0">
              <a:solidFill>
                <a:srgbClr val="1E293B"/>
              </a:solidFill>
              <a:latin typeface="Meiryo"/>
              <a:ea typeface="Meiry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dirty="0" err="1">
                <a:solidFill>
                  <a:srgbClr val="F97316"/>
                </a:solidFill>
                <a:latin typeface="Meiryo"/>
              </a:rPr>
              <a:t>管理画面</a:t>
            </a:r>
            <a:endParaRPr sz="2400" b="1" dirty="0">
              <a:solidFill>
                <a:srgbClr val="F97316"/>
              </a:solidFill>
              <a:latin typeface="Meiry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0" y="2331720"/>
            <a:ext cx="51206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サイト登録・AI固定カテゴリ設定</a:t>
            </a:r>
            <a:endParaRPr sz="20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試し取得（保存せず候補確認</a:t>
            </a:r>
            <a:r>
              <a:rPr sz="2000" b="1" dirty="0">
                <a:solidFill>
                  <a:srgbClr val="1E293B"/>
                </a:solidFill>
                <a:latin typeface="Meiryo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イベント個別編集・AI要約やり直し</a:t>
            </a:r>
            <a:endParaRPr sz="20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統計・カテゴリ</a:t>
            </a:r>
            <a:r>
              <a:rPr sz="2000" b="1" dirty="0">
                <a:solidFill>
                  <a:srgbClr val="1E293B"/>
                </a:solidFill>
                <a:latin typeface="Meiryo"/>
              </a:rPr>
              <a:t>/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エリア内訳</a:t>
            </a:r>
            <a:endParaRPr sz="2000" b="1" dirty="0">
              <a:solidFill>
                <a:srgbClr val="1E293B"/>
              </a:solidFill>
              <a:latin typeface="Meiryo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2D4007C-F9E4-BD19-7FFA-3C631B078550}"/>
              </a:ext>
            </a:extLst>
          </p:cNvPr>
          <p:cNvSpPr txBox="1"/>
          <p:nvPr/>
        </p:nvSpPr>
        <p:spPr>
          <a:xfrm>
            <a:off x="536562" y="6261854"/>
            <a:ext cx="7100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hlinkClick r:id="rId2"/>
              </a:rPr>
              <a:t>https://event-searcher-server.vercel.app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76F5-4CEF-570A-B455-86F43636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4F6413-A2DA-0E75-741A-E5DD2CBD31D1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D985E-F58B-A460-5EE3-9C5C9661E9D7}"/>
              </a:ext>
            </a:extLst>
          </p:cNvPr>
          <p:cNvSpPr txBox="1"/>
          <p:nvPr/>
        </p:nvSpPr>
        <p:spPr>
          <a:xfrm>
            <a:off x="460888" y="167290"/>
            <a:ext cx="1765203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dirty="0" err="1">
                <a:solidFill>
                  <a:srgbClr val="1E293B"/>
                </a:solidFill>
                <a:latin typeface="Meiryo"/>
              </a:rPr>
              <a:t>主な機能</a:t>
            </a:r>
            <a:endParaRPr sz="3000" b="1" dirty="0">
              <a:solidFill>
                <a:srgbClr val="1E293B"/>
              </a:solidFill>
              <a:latin typeface="Meiry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E6F7E-3D25-0DD1-C86F-2A57B8A9B088}"/>
              </a:ext>
            </a:extLst>
          </p:cNvPr>
          <p:cNvSpPr/>
          <p:nvPr/>
        </p:nvSpPr>
        <p:spPr>
          <a:xfrm>
            <a:off x="317681" y="735477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FEA2D5-621F-835E-8CA1-A43FC7EE71C4}"/>
              </a:ext>
            </a:extLst>
          </p:cNvPr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B373A-DA4A-5FB1-E47E-DB7CF804CC2D}"/>
              </a:ext>
            </a:extLst>
          </p:cNvPr>
          <p:cNvSpPr txBox="1"/>
          <p:nvPr/>
        </p:nvSpPr>
        <p:spPr>
          <a:xfrm>
            <a:off x="2329361" y="167290"/>
            <a:ext cx="212309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dirty="0" err="1">
                <a:solidFill>
                  <a:srgbClr val="2563EB"/>
                </a:solidFill>
                <a:latin typeface="Meiryo"/>
              </a:rPr>
              <a:t>ユーザー画面</a:t>
            </a:r>
            <a:endParaRPr sz="2400" b="1" dirty="0">
              <a:solidFill>
                <a:srgbClr val="2563EB"/>
              </a:solidFill>
              <a:latin typeface="Meiryo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C6F4F82-7728-68ED-4C7E-F1602E1A7CF9}"/>
              </a:ext>
            </a:extLst>
          </p:cNvPr>
          <p:cNvSpPr txBox="1"/>
          <p:nvPr/>
        </p:nvSpPr>
        <p:spPr>
          <a:xfrm>
            <a:off x="536562" y="6261854"/>
            <a:ext cx="7100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hlinkClick r:id="rId2"/>
              </a:rPr>
              <a:t>https://event-searcher-server.vercel.app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2B0CA217-986F-D7D7-66A1-8AB43BEBF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085"/>
          <a:stretch>
            <a:fillRect/>
          </a:stretch>
        </p:blipFill>
        <p:spPr>
          <a:xfrm>
            <a:off x="4633649" y="226965"/>
            <a:ext cx="6971339" cy="4231523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9A1B773-51F1-FAD8-5A14-378B37A2A30B}"/>
              </a:ext>
            </a:extLst>
          </p:cNvPr>
          <p:cNvSpPr/>
          <p:nvPr/>
        </p:nvSpPr>
        <p:spPr>
          <a:xfrm>
            <a:off x="4626667" y="1232987"/>
            <a:ext cx="6940541" cy="4698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8290510-CB18-D78D-638D-7FDBEF8EA5D5}"/>
              </a:ext>
            </a:extLst>
          </p:cNvPr>
          <p:cNvSpPr/>
          <p:nvPr/>
        </p:nvSpPr>
        <p:spPr>
          <a:xfrm>
            <a:off x="395611" y="1278502"/>
            <a:ext cx="3264244" cy="457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キーワード検索</a:t>
            </a: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5CEDDE3E-017F-F9AF-07AA-EC76C9493C8C}"/>
              </a:ext>
            </a:extLst>
          </p:cNvPr>
          <p:cNvSpPr/>
          <p:nvPr/>
        </p:nvSpPr>
        <p:spPr>
          <a:xfrm>
            <a:off x="3856934" y="1225577"/>
            <a:ext cx="470692" cy="484632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4AFFE3B-A2DC-11F3-0E04-9AAA708F70CA}"/>
              </a:ext>
            </a:extLst>
          </p:cNvPr>
          <p:cNvSpPr/>
          <p:nvPr/>
        </p:nvSpPr>
        <p:spPr>
          <a:xfrm>
            <a:off x="4633649" y="1816188"/>
            <a:ext cx="6971339" cy="136214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C454672-D53A-D110-5568-FC9A29F5362B}"/>
              </a:ext>
            </a:extLst>
          </p:cNvPr>
          <p:cNvSpPr/>
          <p:nvPr/>
        </p:nvSpPr>
        <p:spPr>
          <a:xfrm>
            <a:off x="395611" y="2323837"/>
            <a:ext cx="3266710" cy="40990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市町</a:t>
            </a:r>
            <a:r>
              <a:rPr kumimoji="1" lang="en-US" altLang="ja-JP" dirty="0">
                <a:solidFill>
                  <a:schemeClr val="tx1"/>
                </a:solidFill>
              </a:rPr>
              <a:t>×</a:t>
            </a:r>
            <a:r>
              <a:rPr kumimoji="1" lang="ja-JP" altLang="en-US" dirty="0">
                <a:solidFill>
                  <a:schemeClr val="tx1"/>
                </a:solidFill>
              </a:rPr>
              <a:t>カテゴリ（複数選択）</a:t>
            </a:r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82029D33-36FE-ABF7-624A-E8FDA71E974C}"/>
              </a:ext>
            </a:extLst>
          </p:cNvPr>
          <p:cNvSpPr/>
          <p:nvPr/>
        </p:nvSpPr>
        <p:spPr>
          <a:xfrm>
            <a:off x="3863915" y="2269313"/>
            <a:ext cx="470692" cy="484632"/>
          </a:xfrm>
          <a:prstGeom prst="rightArrow">
            <a:avLst/>
          </a:prstGeom>
          <a:noFill/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DCB9095-4A26-D406-3EEF-CD076F8293AD}"/>
              </a:ext>
            </a:extLst>
          </p:cNvPr>
          <p:cNvSpPr/>
          <p:nvPr/>
        </p:nvSpPr>
        <p:spPr>
          <a:xfrm>
            <a:off x="4633649" y="3178328"/>
            <a:ext cx="6971339" cy="128016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EBD2783-3FD5-DA90-C113-1D4BFB84769D}"/>
              </a:ext>
            </a:extLst>
          </p:cNvPr>
          <p:cNvSpPr/>
          <p:nvPr/>
        </p:nvSpPr>
        <p:spPr>
          <a:xfrm>
            <a:off x="395611" y="3722496"/>
            <a:ext cx="3264245" cy="40990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FABCAB5-4240-BC36-7AFB-497721DCAFB5}"/>
              </a:ext>
            </a:extLst>
          </p:cNvPr>
          <p:cNvSpPr txBox="1"/>
          <p:nvPr/>
        </p:nvSpPr>
        <p:spPr>
          <a:xfrm>
            <a:off x="375120" y="3742781"/>
            <a:ext cx="3326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開催日での絞り込み</a:t>
            </a:r>
            <a:endParaRPr kumimoji="1" lang="en-US" altLang="ja-JP" dirty="0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2DEC9A83-887B-1969-0477-7CFEAF50F494}"/>
              </a:ext>
            </a:extLst>
          </p:cNvPr>
          <p:cNvSpPr/>
          <p:nvPr/>
        </p:nvSpPr>
        <p:spPr>
          <a:xfrm>
            <a:off x="3863915" y="3617634"/>
            <a:ext cx="463711" cy="484632"/>
          </a:xfrm>
          <a:prstGeom prst="rightArrow">
            <a:avLst/>
          </a:prstGeom>
          <a:noFill/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B994E567-B7EC-650D-4CEA-F1ED8C27A3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700"/>
          <a:stretch>
            <a:fillRect/>
          </a:stretch>
        </p:blipFill>
        <p:spPr>
          <a:xfrm>
            <a:off x="4649047" y="4540468"/>
            <a:ext cx="6940541" cy="1000132"/>
          </a:xfrm>
          <a:prstGeom prst="rect">
            <a:avLst/>
          </a:prstGeom>
        </p:spPr>
      </p:pic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39934AD-57DE-E519-F88B-E4A2D62871DC}"/>
              </a:ext>
            </a:extLst>
          </p:cNvPr>
          <p:cNvSpPr/>
          <p:nvPr/>
        </p:nvSpPr>
        <p:spPr>
          <a:xfrm>
            <a:off x="4649047" y="5210708"/>
            <a:ext cx="2145523" cy="28199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9D11BAB-7DFE-BAA8-59D2-EC663DBD9061}"/>
              </a:ext>
            </a:extLst>
          </p:cNvPr>
          <p:cNvSpPr/>
          <p:nvPr/>
        </p:nvSpPr>
        <p:spPr>
          <a:xfrm>
            <a:off x="437230" y="4768285"/>
            <a:ext cx="3225091" cy="48638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CE6A751-E1D9-82D6-352C-5F8B079B484E}"/>
              </a:ext>
            </a:extLst>
          </p:cNvPr>
          <p:cNvSpPr txBox="1"/>
          <p:nvPr/>
        </p:nvSpPr>
        <p:spPr>
          <a:xfrm>
            <a:off x="460888" y="4820755"/>
            <a:ext cx="3326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終了イベントの非表示切り替え</a:t>
            </a:r>
          </a:p>
        </p:txBody>
      </p:sp>
      <p:sp>
        <p:nvSpPr>
          <p:cNvPr id="35" name="矢印: 右 34">
            <a:extLst>
              <a:ext uri="{FF2B5EF4-FFF2-40B4-BE49-F238E27FC236}">
                <a16:creationId xmlns:a16="http://schemas.microsoft.com/office/drawing/2014/main" id="{779949FD-F836-F1F8-608E-E90EC1CDB124}"/>
              </a:ext>
            </a:extLst>
          </p:cNvPr>
          <p:cNvSpPr/>
          <p:nvPr/>
        </p:nvSpPr>
        <p:spPr>
          <a:xfrm>
            <a:off x="3838422" y="4773713"/>
            <a:ext cx="496185" cy="484632"/>
          </a:xfrm>
          <a:prstGeom prst="rightArrow">
            <a:avLst/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272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BA98-C452-0DE2-ECE4-ED46F9D9D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DEB8C5-A6BD-3FCB-DF3B-66CD35882D91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74875-9584-E3BE-4F37-3C855F0F454A}"/>
              </a:ext>
            </a:extLst>
          </p:cNvPr>
          <p:cNvSpPr txBox="1"/>
          <p:nvPr/>
        </p:nvSpPr>
        <p:spPr>
          <a:xfrm>
            <a:off x="685800" y="621161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eiryo"/>
              </a:rPr>
              <a:t>主な機能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D40038-A474-CDD5-85A8-94AA08E5CA1D}"/>
              </a:ext>
            </a:extLst>
          </p:cNvPr>
          <p:cNvSpPr/>
          <p:nvPr/>
        </p:nvSpPr>
        <p:spPr>
          <a:xfrm>
            <a:off x="685800" y="132588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1B1F4-4CAC-FB50-332B-FC091293A3C0}"/>
              </a:ext>
            </a:extLst>
          </p:cNvPr>
          <p:cNvSpPr txBox="1"/>
          <p:nvPr/>
        </p:nvSpPr>
        <p:spPr>
          <a:xfrm>
            <a:off x="11368579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8C7B1E-FC8A-225C-9FB5-CDBA3F0284E3}"/>
              </a:ext>
            </a:extLst>
          </p:cNvPr>
          <p:cNvSpPr txBox="1"/>
          <p:nvPr/>
        </p:nvSpPr>
        <p:spPr>
          <a:xfrm>
            <a:off x="2697480" y="502920"/>
            <a:ext cx="1454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ja-JP" altLang="en-US" sz="2400" b="1" dirty="0">
                <a:solidFill>
                  <a:schemeClr val="accent6"/>
                </a:solidFill>
                <a:latin typeface="Meiryo"/>
              </a:rPr>
              <a:t>管理画面</a:t>
            </a:r>
            <a:endParaRPr sz="2400" b="1" dirty="0">
              <a:solidFill>
                <a:schemeClr val="accent6"/>
              </a:solidFill>
              <a:latin typeface="Meiryo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42C2550-F106-5646-3677-9C7A2A8C79BF}"/>
              </a:ext>
            </a:extLst>
          </p:cNvPr>
          <p:cNvSpPr txBox="1"/>
          <p:nvPr/>
        </p:nvSpPr>
        <p:spPr>
          <a:xfrm>
            <a:off x="536562" y="6261854"/>
            <a:ext cx="7100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hlinkClick r:id="rId2"/>
              </a:rPr>
              <a:t>https://event-searcher-server.vercel.app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8908A6E-861C-240F-87C0-1A8633939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609" y="1321150"/>
            <a:ext cx="7558490" cy="3703693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95BCC59-0F0B-7399-D6DF-242D372CDA6C}"/>
              </a:ext>
            </a:extLst>
          </p:cNvPr>
          <p:cNvSpPr/>
          <p:nvPr/>
        </p:nvSpPr>
        <p:spPr>
          <a:xfrm>
            <a:off x="4641368" y="2743200"/>
            <a:ext cx="3367515" cy="3153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0A0B621-0F73-E724-5E15-801AB29B593B}"/>
              </a:ext>
            </a:extLst>
          </p:cNvPr>
          <p:cNvSpPr/>
          <p:nvPr/>
        </p:nvSpPr>
        <p:spPr>
          <a:xfrm>
            <a:off x="1752075" y="2651528"/>
            <a:ext cx="1672721" cy="4354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サイト登録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34D68722-2F34-EC0D-8BAC-7421C230E720}"/>
              </a:ext>
            </a:extLst>
          </p:cNvPr>
          <p:cNvSpPr/>
          <p:nvPr/>
        </p:nvSpPr>
        <p:spPr>
          <a:xfrm>
            <a:off x="3524555" y="2658539"/>
            <a:ext cx="978408" cy="484632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4BCC712-485D-2731-C4CC-305C8EDFCA3C}"/>
              </a:ext>
            </a:extLst>
          </p:cNvPr>
          <p:cNvSpPr/>
          <p:nvPr/>
        </p:nvSpPr>
        <p:spPr>
          <a:xfrm>
            <a:off x="5499012" y="3827868"/>
            <a:ext cx="1879250" cy="39098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E3658BD-0DAA-1D58-883A-7E3C5D683076}"/>
              </a:ext>
            </a:extLst>
          </p:cNvPr>
          <p:cNvSpPr/>
          <p:nvPr/>
        </p:nvSpPr>
        <p:spPr>
          <a:xfrm>
            <a:off x="1544496" y="3714357"/>
            <a:ext cx="1880300" cy="43548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固定カテゴリ設定</a:t>
            </a: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5BEE37A7-13B3-0BB4-A71F-E3A8224E396A}"/>
              </a:ext>
            </a:extLst>
          </p:cNvPr>
          <p:cNvSpPr/>
          <p:nvPr/>
        </p:nvSpPr>
        <p:spPr>
          <a:xfrm>
            <a:off x="3509238" y="3711676"/>
            <a:ext cx="978408" cy="484632"/>
          </a:xfrm>
          <a:prstGeom prst="rightArrow">
            <a:avLst/>
          </a:prstGeom>
          <a:noFill/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93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9120" y="544403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eiryo"/>
                <a:ea typeface="Meiryo"/>
              </a:rPr>
              <a:t>パーソナライズ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201168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73937"/>
            <a:ext cx="4184227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 err="1">
                <a:solidFill>
                  <a:srgbClr val="475569"/>
                </a:solidFill>
                <a:latin typeface="Meiryo"/>
                <a:ea typeface="Meiryo"/>
              </a:rPr>
              <a:t>使うほど自分向けになる</a:t>
            </a:r>
            <a:endParaRPr sz="2800" b="0" dirty="0">
              <a:solidFill>
                <a:srgbClr val="475569"/>
              </a:solidFill>
              <a:latin typeface="Meiryo"/>
              <a:ea typeface="Meiry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599777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2563EB"/>
                </a:solidFill>
                <a:latin typeface="Meiryo"/>
                <a:ea typeface="Meiryo"/>
              </a:rPr>
              <a:t>好みの学習</a:t>
            </a:r>
            <a:endParaRPr sz="2400" b="1" dirty="0">
              <a:solidFill>
                <a:srgbClr val="2563EB"/>
              </a:solidFill>
              <a:latin typeface="Meiryo"/>
              <a:ea typeface="Meiry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3465912"/>
            <a:ext cx="56350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ブックマークは強い好み、閲覧履歴は弱い好</a:t>
            </a:r>
            <a:r>
              <a:rPr lang="ja-JP" altLang="en-US" sz="1900" b="1" dirty="0">
                <a:solidFill>
                  <a:srgbClr val="1E293B"/>
                </a:solidFill>
                <a:latin typeface="Meiryo"/>
                <a:ea typeface="Meiryo"/>
              </a:rPr>
              <a:t>み</a:t>
            </a:r>
            <a:endParaRPr sz="1900" b="1" dirty="0">
              <a:solidFill>
                <a:srgbClr val="1E293B"/>
              </a:solidFill>
              <a:latin typeface="Meiryo"/>
              <a:ea typeface="Meiryo"/>
            </a:endParaRPr>
          </a:p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カテゴリ・エリアをスコア化し上位8件を提示</a:t>
            </a:r>
          </a:p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ブックマーク済み・終了イベントは除外</a:t>
            </a:r>
            <a:endParaRPr sz="1900" b="1" dirty="0">
              <a:solidFill>
                <a:srgbClr val="1E293B"/>
              </a:solidFill>
              <a:latin typeface="Meiryo"/>
              <a:ea typeface="Meiry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25994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F97316"/>
                </a:solidFill>
                <a:latin typeface="Meiryo"/>
                <a:ea typeface="Meiryo"/>
              </a:rPr>
              <a:t>履歴と通知</a:t>
            </a:r>
            <a:endParaRPr sz="2400" b="1" dirty="0">
              <a:solidFill>
                <a:srgbClr val="F97316"/>
              </a:solidFill>
              <a:latin typeface="Meiryo"/>
              <a:ea typeface="Meiry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09360" y="3465912"/>
            <a:ext cx="4937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閲覧履歴タブに最大120件を保存</a:t>
            </a:r>
          </a:p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履歴はいつでも消去できる</a:t>
            </a:r>
            <a:endParaRPr sz="1900" b="1" dirty="0">
              <a:solidFill>
                <a:srgbClr val="1E293B"/>
              </a:solidFill>
              <a:latin typeface="Meiryo"/>
              <a:ea typeface="Meiryo"/>
            </a:endParaRPr>
          </a:p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条件に合う新着だけをWeb</a:t>
            </a: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Push通知</a:t>
            </a:r>
            <a:endParaRPr sz="1900" b="1" dirty="0">
              <a:solidFill>
                <a:srgbClr val="1E293B"/>
              </a:solidFill>
              <a:latin typeface="Meiryo"/>
              <a:ea typeface="Meiry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75569"/>
                </a:solidFill>
                <a:latin typeface="Meiryo"/>
                <a:ea typeface="Meiryo"/>
              </a:rPr>
              <a:t>→ 履歴と好みの計算は端末内(localStorage)で完結。サーバーへ送信しない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Meiryo"/>
                <a:ea typeface="Meiry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eiryo"/>
                <a:ea typeface="Meiryo"/>
              </a:rPr>
              <a:t>地図・カレンダーで探す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201168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515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75569"/>
                </a:solidFill>
                <a:latin typeface="Meiryo"/>
                <a:ea typeface="Meiryo"/>
              </a:rPr>
              <a:t>「どこで」「いつ」から探せる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Meiryo"/>
                <a:ea typeface="Meiryo"/>
              </a:rPr>
              <a:t>地図で探す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39" y="2395728"/>
            <a:ext cx="54745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現在地を中心に会場のピンを表示</a:t>
            </a:r>
            <a:endParaRPr sz="1900" b="1" dirty="0">
              <a:solidFill>
                <a:srgbClr val="1E293B"/>
              </a:solidFill>
              <a:latin typeface="Meiryo"/>
              <a:ea typeface="Meiryo"/>
            </a:endParaRPr>
          </a:p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Leaflet + OpenStreetMap /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クラスタ表示</a:t>
            </a:r>
            <a:endParaRPr sz="1900" b="1" dirty="0">
              <a:solidFill>
                <a:srgbClr val="1E293B"/>
              </a:solidFill>
              <a:latin typeface="Meiryo"/>
              <a:ea typeface="Meiryo"/>
            </a:endParaRPr>
          </a:p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地域・カテゴリの絞り込みと連動</a:t>
            </a:r>
            <a:endParaRPr sz="1900" b="1" dirty="0">
              <a:solidFill>
                <a:srgbClr val="1E293B"/>
              </a:solidFill>
              <a:latin typeface="Meiryo"/>
              <a:ea typeface="Meiry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97316"/>
                </a:solidFill>
                <a:latin typeface="Meiryo"/>
                <a:ea typeface="Meiryo"/>
              </a:rPr>
              <a:t>カレンダーで探す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95728"/>
            <a:ext cx="44941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月表示で日ごとにカテゴリを表示</a:t>
            </a:r>
            <a:endParaRPr sz="1900" b="1" dirty="0">
              <a:solidFill>
                <a:srgbClr val="1E293B"/>
              </a:solidFill>
              <a:latin typeface="Meiryo"/>
              <a:ea typeface="Meiryo"/>
            </a:endParaRPr>
          </a:p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日付を押すとカテゴリ別に展開</a:t>
            </a:r>
            <a:endParaRPr sz="1900" b="1" dirty="0">
              <a:solidFill>
                <a:srgbClr val="1E293B"/>
              </a:solidFill>
              <a:latin typeface="Meiryo"/>
              <a:ea typeface="Meiryo"/>
            </a:endParaRPr>
          </a:p>
          <a:p>
            <a:pPr>
              <a:spcAft>
                <a:spcPts val="900"/>
              </a:spcAft>
            </a:pP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今日</a:t>
            </a: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 /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今週末</a:t>
            </a: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 /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今月</a:t>
            </a:r>
            <a:r>
              <a:rPr sz="1900" b="1" dirty="0">
                <a:solidFill>
                  <a:srgbClr val="1E293B"/>
                </a:solidFill>
                <a:latin typeface="Meiryo"/>
                <a:ea typeface="Meiryo"/>
              </a:rPr>
              <a:t> / </a:t>
            </a:r>
            <a:r>
              <a:rPr sz="1900" b="1" dirty="0" err="1">
                <a:solidFill>
                  <a:srgbClr val="1E293B"/>
                </a:solidFill>
                <a:latin typeface="Meiryo"/>
                <a:ea typeface="Meiryo"/>
              </a:rPr>
              <a:t>期間指定</a:t>
            </a:r>
            <a:endParaRPr sz="1900" b="1" dirty="0">
              <a:solidFill>
                <a:srgbClr val="1E293B"/>
              </a:solidFill>
              <a:latin typeface="Meiryo"/>
              <a:ea typeface="Meiry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475569"/>
                </a:solidFill>
                <a:latin typeface="Meiryo"/>
                <a:ea typeface="Meiryo"/>
              </a:rPr>
              <a:t>→ </a:t>
            </a:r>
            <a:r>
              <a:rPr sz="1800" b="0" dirty="0" err="1">
                <a:solidFill>
                  <a:srgbClr val="475569"/>
                </a:solidFill>
                <a:latin typeface="Meiryo"/>
                <a:ea typeface="Meiryo"/>
              </a:rPr>
              <a:t>座標はAIが本文から会場名・住所を抽出し、OSM</a:t>
            </a:r>
            <a:r>
              <a:rPr sz="1800" b="0" dirty="0">
                <a:solidFill>
                  <a:srgbClr val="475569"/>
                </a:solidFill>
                <a:latin typeface="Meiryo"/>
                <a:ea typeface="Meiryo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Meiryo"/>
                <a:ea typeface="Meiryo"/>
              </a:rPr>
              <a:t>Nominatimでジオコーディング</a:t>
            </a:r>
            <a:r>
              <a:rPr sz="1800" b="0" dirty="0">
                <a:solidFill>
                  <a:srgbClr val="475569"/>
                </a:solidFill>
                <a:latin typeface="Meiryo"/>
                <a:ea typeface="Meiryo"/>
              </a:rPr>
              <a:t>
　　</a:t>
            </a:r>
            <a:r>
              <a:rPr sz="1800" b="0" dirty="0" err="1">
                <a:solidFill>
                  <a:srgbClr val="475569"/>
                </a:solidFill>
                <a:latin typeface="Meiryo"/>
                <a:ea typeface="Meiryo"/>
              </a:rPr>
              <a:t>取得できない場合は市町の中心座標にフォールバック</a:t>
            </a:r>
            <a:endParaRPr sz="1800" b="0" dirty="0">
              <a:solidFill>
                <a:srgbClr val="475569"/>
              </a:solidFill>
              <a:latin typeface="Meiryo"/>
              <a:ea typeface="Meiry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Meiryo"/>
                <a:ea typeface="Meiry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8D77FA8-E027-8DBB-130C-3D5D632D8F1F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0F21D8-1538-A59F-708E-4DAF8A3EBEB0}"/>
              </a:ext>
            </a:extLst>
          </p:cNvPr>
          <p:cNvSpPr txBox="1"/>
          <p:nvPr/>
        </p:nvSpPr>
        <p:spPr>
          <a:xfrm>
            <a:off x="685800" y="1650999"/>
            <a:ext cx="10866612" cy="50275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シンプルなレイアウトで操作感が向上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PWAなのでApp</a:t>
            </a: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Store・Google</a:t>
            </a: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Playへの申請が不要</a:t>
            </a:r>
            <a:r>
              <a:rPr sz="2400" b="0" dirty="0">
                <a:solidFill>
                  <a:srgbClr val="475569"/>
                </a:solidFill>
                <a:latin typeface="Meiryo"/>
                <a:ea typeface="Meiryo"/>
              </a:rPr>
              <a:t>　</a:t>
            </a:r>
            <a:endParaRPr lang="en-US" sz="2400" b="0" dirty="0">
              <a:solidFill>
                <a:srgbClr val="475569"/>
              </a:solidFill>
              <a:latin typeface="Meiryo"/>
              <a:ea typeface="Meiryo"/>
            </a:endParaRPr>
          </a:p>
          <a:p>
            <a:pPr algn="l">
              <a:spcAft>
                <a:spcPts val="1000"/>
              </a:spcAft>
            </a:pPr>
            <a:r>
              <a:rPr lang="en-US" sz="2400" b="0" dirty="0">
                <a:solidFill>
                  <a:srgbClr val="475569"/>
                </a:solidFill>
                <a:latin typeface="Meiryo"/>
                <a:ea typeface="Meiryo"/>
              </a:rPr>
              <a:t>		</a:t>
            </a:r>
            <a:r>
              <a:rPr sz="2400" b="0" dirty="0" err="1">
                <a:solidFill>
                  <a:srgbClr val="475569"/>
                </a:solidFill>
                <a:latin typeface="Meiryo"/>
                <a:ea typeface="Meiryo"/>
              </a:rPr>
              <a:t>コスト削減。ホーム画面に追加してアプリのように使える</a:t>
            </a:r>
            <a:endParaRPr sz="2400" b="0" dirty="0">
              <a:solidFill>
                <a:srgbClr val="475569"/>
              </a:solidFill>
              <a:latin typeface="Meiryo"/>
              <a:ea typeface="Meiryo"/>
            </a:endParaRP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最新のイベント通知が届くのでアプリに気づきやすい</a:t>
            </a:r>
            <a:endParaRPr sz="2400" b="1" dirty="0">
              <a:solidFill>
                <a:srgbClr val="1E293B"/>
              </a:solidFill>
              <a:latin typeface="Meiryo"/>
              <a:ea typeface="Meiryo"/>
            </a:endParaRP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文字サイズを小・中・大で切替</a:t>
            </a:r>
            <a:r>
              <a:rPr sz="2400" b="0" dirty="0">
                <a:solidFill>
                  <a:srgbClr val="475569"/>
                </a:solidFill>
                <a:latin typeface="Meiryo"/>
                <a:ea typeface="Meiryo"/>
              </a:rPr>
              <a:t>　</a:t>
            </a:r>
            <a:endParaRPr lang="en-US" sz="2400" b="0" dirty="0">
              <a:solidFill>
                <a:srgbClr val="475569"/>
              </a:solidFill>
              <a:latin typeface="Meiryo"/>
              <a:ea typeface="Meiryo"/>
            </a:endParaRPr>
          </a:p>
          <a:p>
            <a:pPr algn="l">
              <a:spcAft>
                <a:spcPts val="1000"/>
              </a:spcAft>
            </a:pPr>
            <a:r>
              <a:rPr lang="en-US" sz="2400" dirty="0">
                <a:solidFill>
                  <a:srgbClr val="475569"/>
                </a:solidFill>
                <a:latin typeface="Meiryo"/>
                <a:ea typeface="Meiryo"/>
              </a:rPr>
              <a:t>		</a:t>
            </a:r>
            <a:r>
              <a:rPr sz="2400" b="0" dirty="0" err="1">
                <a:solidFill>
                  <a:srgbClr val="475569"/>
                </a:solidFill>
                <a:latin typeface="Meiryo"/>
                <a:ea typeface="Meiryo"/>
              </a:rPr>
              <a:t>設定は端末に保存</a:t>
            </a:r>
            <a:endParaRPr sz="2400" b="0" dirty="0">
              <a:solidFill>
                <a:srgbClr val="475569"/>
              </a:solidFill>
              <a:latin typeface="Meiryo"/>
              <a:ea typeface="Meiryo"/>
            </a:endParaRP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スクロール後に「トップへ戻る」を表示</a:t>
            </a:r>
            <a:r>
              <a:rPr sz="2400" b="0" dirty="0">
                <a:solidFill>
                  <a:srgbClr val="475569"/>
                </a:solidFill>
                <a:latin typeface="Meiryo"/>
                <a:ea typeface="Meiryo"/>
              </a:rPr>
              <a:t>　</a:t>
            </a:r>
            <a:endParaRPr lang="en-US" sz="2400" b="0" dirty="0">
              <a:solidFill>
                <a:srgbClr val="475569"/>
              </a:solidFill>
              <a:latin typeface="Meiryo"/>
              <a:ea typeface="Meiryo"/>
            </a:endParaRPr>
          </a:p>
          <a:p>
            <a:pPr algn="l">
              <a:spcAft>
                <a:spcPts val="1000"/>
              </a:spcAft>
            </a:pPr>
            <a:r>
              <a:rPr lang="en-US" sz="2400" dirty="0">
                <a:solidFill>
                  <a:srgbClr val="475569"/>
                </a:solidFill>
                <a:latin typeface="Meiryo"/>
                <a:ea typeface="Meiryo"/>
              </a:rPr>
              <a:t>		</a:t>
            </a:r>
            <a:r>
              <a:rPr sz="2400" b="0" dirty="0" err="1">
                <a:solidFill>
                  <a:srgbClr val="475569"/>
                </a:solidFill>
                <a:latin typeface="Meiryo"/>
                <a:ea typeface="Meiryo"/>
              </a:rPr>
              <a:t>動きを減らす設定にも対応</a:t>
            </a:r>
            <a:endParaRPr sz="2400" b="0" dirty="0">
              <a:solidFill>
                <a:srgbClr val="475569"/>
              </a:solidFill>
              <a:latin typeface="Meiryo"/>
              <a:ea typeface="Meiryo"/>
            </a:endParaRP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スマホ最適化</a:t>
            </a:r>
            <a:r>
              <a:rPr sz="2400" b="0" dirty="0">
                <a:solidFill>
                  <a:srgbClr val="475569"/>
                </a:solidFill>
                <a:latin typeface="Meiryo"/>
                <a:ea typeface="Meiryo"/>
              </a:rPr>
              <a:t>　</a:t>
            </a:r>
            <a:endParaRPr lang="en-US" sz="2400" b="0" dirty="0">
              <a:solidFill>
                <a:srgbClr val="475569"/>
              </a:solidFill>
              <a:latin typeface="Meiryo"/>
              <a:ea typeface="Meiryo"/>
            </a:endParaRPr>
          </a:p>
          <a:p>
            <a:pPr algn="l">
              <a:spcAft>
                <a:spcPts val="1000"/>
              </a:spcAft>
            </a:pPr>
            <a:r>
              <a:rPr lang="en-US" sz="2400" dirty="0">
                <a:solidFill>
                  <a:srgbClr val="475569"/>
                </a:solidFill>
                <a:latin typeface="Meiryo"/>
                <a:ea typeface="Meiryo"/>
              </a:rPr>
              <a:t>		</a:t>
            </a:r>
            <a:r>
              <a:rPr sz="2400" b="0" dirty="0" err="1">
                <a:solidFill>
                  <a:srgbClr val="475569"/>
                </a:solidFill>
                <a:latin typeface="Meiryo"/>
                <a:ea typeface="Meiryo"/>
              </a:rPr>
              <a:t>タブ横スクロール</a:t>
            </a:r>
            <a:r>
              <a:rPr sz="2400" b="0" dirty="0">
                <a:solidFill>
                  <a:srgbClr val="475569"/>
                </a:solidFill>
                <a:latin typeface="Meiryo"/>
                <a:ea typeface="Meiryo"/>
              </a:rPr>
              <a:t> / 1カラム / </a:t>
            </a:r>
            <a:r>
              <a:rPr sz="2400" b="0" dirty="0" err="1">
                <a:solidFill>
                  <a:srgbClr val="475569"/>
                </a:solidFill>
                <a:latin typeface="Meiryo"/>
                <a:ea typeface="Meiryo"/>
              </a:rPr>
              <a:t>全画面の詳細表示</a:t>
            </a:r>
            <a:endParaRPr sz="2400" b="0" dirty="0">
              <a:solidFill>
                <a:srgbClr val="475569"/>
              </a:solidFill>
              <a:latin typeface="Meiryo"/>
              <a:ea typeface="Meiry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9167CE-1C19-DFD8-3FF4-7E1B00DBA995}"/>
              </a:ext>
            </a:extLst>
          </p:cNvPr>
          <p:cNvSpPr/>
          <p:nvPr/>
        </p:nvSpPr>
        <p:spPr>
          <a:xfrm>
            <a:off x="685800" y="132588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460480" y="6537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Meiryo"/>
                <a:ea typeface="Meiryo"/>
              </a:rPr>
              <a:t>6</a:t>
            </a: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C62C6ACC-B0EF-4EE5-4847-7C32E3E8D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411480"/>
            <a:ext cx="10607040" cy="914400"/>
          </a:xfrm>
        </p:spPr>
        <p:txBody>
          <a:bodyPr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eiryo"/>
                <a:ea typeface="Meiryo"/>
              </a:rPr>
              <a:t>ユーザー体験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2244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eiryo"/>
              </a:rPr>
              <a:t>技術スタック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31675" y="929153"/>
            <a:ext cx="1060704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1675" y="929153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3115" y="929153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フロント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7755" y="929153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TypeScript / React 18 / Vite / lucide-react（PWA）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1675" y="1587521"/>
            <a:ext cx="106070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1675" y="1587521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115" y="1587521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7755" y="1587521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TypeScript / Hono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675" y="2245889"/>
            <a:ext cx="1060704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1675" y="2245889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3115" y="2245889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7755" y="2245889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Amazon Bedrock  GLM-5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675" y="2904257"/>
            <a:ext cx="106070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1675" y="2904257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115" y="2904257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7755" y="2904257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Amazon DynamoDB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1675" y="3562625"/>
            <a:ext cx="1060704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1675" y="3562625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3115" y="3562625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ホスティング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7755" y="3562625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Vercel（Cron・SPA配信）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1675" y="4220993"/>
            <a:ext cx="106070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1675" y="4220993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3115" y="4220993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その他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7755" y="4220993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aws4fetch(SigV4) / モノレポ(npm workspaces) / AWS CDK / GitHub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439DFE9-CD7E-9DC4-BED2-C13F9821F3B4}"/>
              </a:ext>
            </a:extLst>
          </p:cNvPr>
          <p:cNvSpPr/>
          <p:nvPr/>
        </p:nvSpPr>
        <p:spPr>
          <a:xfrm>
            <a:off x="2531680" y="1720706"/>
            <a:ext cx="3344864" cy="6199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6070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ja-JP" altLang="en-US" sz="3000" b="1" dirty="0">
                <a:solidFill>
                  <a:srgbClr val="1E293B"/>
                </a:solidFill>
                <a:latin typeface="Meiryo"/>
              </a:rPr>
              <a:t>技術的チャレンジ</a:t>
            </a:r>
            <a:endParaRPr sz="3000" b="1" dirty="0">
              <a:solidFill>
                <a:srgbClr val="1E293B"/>
              </a:solidFill>
              <a:latin typeface="Meiry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60812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691896" y="2739986"/>
            <a:ext cx="1691640" cy="10972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134737"/>
            <a:ext cx="174345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イベントサイトを登録</a:t>
            </a:r>
            <a:endParaRPr sz="1400" b="1" dirty="0">
              <a:solidFill>
                <a:srgbClr val="FFFFFF"/>
              </a:solidFill>
              <a:latin typeface="Meiry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83536" y="2739986"/>
            <a:ext cx="10972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31680" y="2739986"/>
            <a:ext cx="3344864" cy="10972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531680" y="2988544"/>
            <a:ext cx="3454592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ja-JP" sz="1400" b="1" dirty="0">
                <a:solidFill>
                  <a:srgbClr val="FFFFFF"/>
                </a:solidFill>
                <a:latin typeface="Meiryo"/>
              </a:rPr>
              <a:t>web</a:t>
            </a: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サイトから</a:t>
            </a:r>
            <a:r>
              <a:rPr lang="en-US" altLang="ja-JP" sz="1400" b="1" dirty="0">
                <a:solidFill>
                  <a:srgbClr val="FFFFFF"/>
                </a:solidFill>
                <a:latin typeface="Meiryo"/>
              </a:rPr>
              <a:t>AI</a:t>
            </a: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がデータ収集、要約</a:t>
            </a:r>
            <a:endParaRPr lang="en-US" altLang="ja-JP" sz="1400" b="1" dirty="0">
              <a:solidFill>
                <a:srgbClr val="FFFFFF"/>
              </a:solidFill>
              <a:latin typeface="Meiryo"/>
            </a:endParaRPr>
          </a:p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FFFFFF"/>
                </a:solidFill>
                <a:latin typeface="Meiryo"/>
              </a:rPr>
              <a:t>Hono+GLM-5</a:t>
            </a:r>
            <a:endParaRPr sz="1400" b="1" dirty="0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14960" y="3157820"/>
            <a:ext cx="7131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dirty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1136" y="2739986"/>
            <a:ext cx="1636776" cy="109728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62601" y="2964007"/>
            <a:ext cx="1691640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データベースに登録</a:t>
            </a:r>
            <a:endParaRPr lang="en-US" sz="1400" b="1" dirty="0">
              <a:solidFill>
                <a:srgbClr val="FFFFFF"/>
              </a:solidFill>
              <a:latin typeface="Meiryo"/>
            </a:endParaRPr>
          </a:p>
          <a:p>
            <a:pPr algn="ctr">
              <a:spcAft>
                <a:spcPts val="600"/>
              </a:spcAft>
            </a:pPr>
            <a:r>
              <a:rPr sz="1400" b="1" dirty="0">
                <a:solidFill>
                  <a:srgbClr val="FFFFFF"/>
                </a:solidFill>
                <a:latin typeface="Meiryo"/>
              </a:rPr>
              <a:t>DynamoDB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7640" y="2739986"/>
            <a:ext cx="10972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97368" y="2739986"/>
            <a:ext cx="1856232" cy="1097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5434" y="2880822"/>
            <a:ext cx="1856232" cy="815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ja-JP" sz="1400" b="1" dirty="0">
                <a:solidFill>
                  <a:srgbClr val="FFFFFF"/>
                </a:solidFill>
                <a:latin typeface="Meiryo"/>
              </a:rPr>
              <a:t>DB</a:t>
            </a: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から必要なデータを取得</a:t>
            </a:r>
            <a:endParaRPr lang="en-US" sz="1400" b="1" dirty="0">
              <a:solidFill>
                <a:srgbClr val="FFFFFF"/>
              </a:solidFill>
              <a:latin typeface="Meiryo"/>
            </a:endParaRPr>
          </a:p>
          <a:p>
            <a:pPr algn="ctr">
              <a:spcAft>
                <a:spcPts val="600"/>
              </a:spcAft>
            </a:pPr>
            <a:r>
              <a:rPr sz="1400" b="1" dirty="0">
                <a:solidFill>
                  <a:srgbClr val="FFFFFF"/>
                </a:solidFill>
                <a:latin typeface="Meiryo"/>
              </a:rPr>
              <a:t>API /events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8715" y="2739986"/>
            <a:ext cx="10972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dirty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0377" y="2739986"/>
            <a:ext cx="1897811" cy="10972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23462" y="2988544"/>
            <a:ext cx="1691640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ブラウザに表示</a:t>
            </a:r>
            <a:endParaRPr lang="en-US" sz="1400" b="1" dirty="0">
              <a:solidFill>
                <a:srgbClr val="FFFFFF"/>
              </a:solidFill>
              <a:latin typeface="Meiryo"/>
            </a:endParaRPr>
          </a:p>
          <a:p>
            <a:pPr algn="ctr">
              <a:spcAft>
                <a:spcPts val="600"/>
              </a:spcAft>
            </a:pPr>
            <a:r>
              <a:rPr sz="1400" b="1" dirty="0">
                <a:solidFill>
                  <a:srgbClr val="FFFFFF"/>
                </a:solidFill>
                <a:latin typeface="Meiryo"/>
              </a:rPr>
              <a:t>React PWA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3848" y="4099947"/>
            <a:ext cx="10607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chemeClr val="accent6">
                    <a:lumMod val="75000"/>
                  </a:schemeClr>
                </a:solidFill>
                <a:latin typeface="Meiryo"/>
              </a:rPr>
              <a:t>↑ </a:t>
            </a:r>
            <a:r>
              <a:rPr sz="1600" b="1" dirty="0" err="1">
                <a:solidFill>
                  <a:schemeClr val="accent6">
                    <a:lumMod val="75000"/>
                  </a:schemeClr>
                </a:solidFill>
                <a:latin typeface="Meiryo"/>
              </a:rPr>
              <a:t>Vercel</a:t>
            </a:r>
            <a:r>
              <a:rPr sz="1600" b="1" dirty="0">
                <a:solidFill>
                  <a:schemeClr val="accent6">
                    <a:lumMod val="75000"/>
                  </a:schemeClr>
                </a:solidFill>
                <a:latin typeface="Meiryo"/>
              </a:rPr>
              <a:t> Cron が1日1回、自動で収集を実行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175248F5-ECEA-A52A-7E86-AB2038851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105" y="4800857"/>
            <a:ext cx="2057143" cy="2057143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C52ACA8-3C80-A48A-CB45-043ACF5B35CA}"/>
              </a:ext>
            </a:extLst>
          </p:cNvPr>
          <p:cNvSpPr txBox="1"/>
          <p:nvPr/>
        </p:nvSpPr>
        <p:spPr>
          <a:xfrm>
            <a:off x="2554856" y="1720706"/>
            <a:ext cx="3360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様々なサイトに対応できるように工夫</a:t>
            </a:r>
            <a:endParaRPr kumimoji="1" lang="en-US" altLang="ja-JP" sz="1600" dirty="0"/>
          </a:p>
          <a:p>
            <a:r>
              <a:rPr kumimoji="1" lang="en-US" altLang="ja-JP" sz="1600" dirty="0"/>
              <a:t>(</a:t>
            </a:r>
            <a:r>
              <a:rPr kumimoji="1" lang="ja-JP" altLang="en-US" sz="1600" dirty="0"/>
              <a:t>正規表現</a:t>
            </a:r>
            <a:r>
              <a:rPr kumimoji="1" lang="en-US" altLang="ja-JP" sz="1600" dirty="0"/>
              <a:t>+</a:t>
            </a:r>
            <a:r>
              <a:rPr kumimoji="1" lang="ja-JP" altLang="en-US" sz="1600" dirty="0"/>
              <a:t>ページネーションで実現）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C9DA07C-AB55-280F-5D62-97374FFC42D4}"/>
              </a:ext>
            </a:extLst>
          </p:cNvPr>
          <p:cNvSpPr txBox="1"/>
          <p:nvPr/>
        </p:nvSpPr>
        <p:spPr>
          <a:xfrm>
            <a:off x="1260711" y="4498861"/>
            <a:ext cx="9308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solidFill>
                  <a:schemeClr val="accent6">
                    <a:lumMod val="75000"/>
                  </a:schemeClr>
                </a:solidFill>
              </a:rPr>
              <a:t>Vercel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の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回のリクエストにつき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60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秒制限ー＞収集を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50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秒で終了させる（取得済みはスキップ）</a:t>
            </a:r>
          </a:p>
        </p:txBody>
      </p:sp>
      <p:sp>
        <p:nvSpPr>
          <p:cNvPr id="35" name="矢印: 下 34">
            <a:extLst>
              <a:ext uri="{FF2B5EF4-FFF2-40B4-BE49-F238E27FC236}">
                <a16:creationId xmlns:a16="http://schemas.microsoft.com/office/drawing/2014/main" id="{179DDE00-9FB5-4FC1-2967-1B107110AAAC}"/>
              </a:ext>
            </a:extLst>
          </p:cNvPr>
          <p:cNvSpPr/>
          <p:nvPr/>
        </p:nvSpPr>
        <p:spPr>
          <a:xfrm>
            <a:off x="3961796" y="2375434"/>
            <a:ext cx="484632" cy="38781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C2D939-88A5-4327-0A93-4BAC1A663592}"/>
              </a:ext>
            </a:extLst>
          </p:cNvPr>
          <p:cNvSpPr txBox="1"/>
          <p:nvPr/>
        </p:nvSpPr>
        <p:spPr>
          <a:xfrm>
            <a:off x="594571" y="5508983"/>
            <a:ext cx="9463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ja-JP" sz="1600" b="1" noProof="0" dirty="0">
                <a:solidFill>
                  <a:srgbClr val="1E293B"/>
                </a:solidFill>
                <a:latin typeface="Meiryo"/>
              </a:rPr>
              <a:t>•  AWS SDKを使わず aws4fetch でSigV4署名し、Bedrock/DynamoDBを軽量に直接呼び出し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6070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sz="3000" b="1" dirty="0">
                <a:solidFill>
                  <a:srgbClr val="1E293B"/>
                </a:solidFill>
                <a:latin typeface="Meiryo"/>
                <a:ea typeface="Meiryo"/>
              </a:rPr>
              <a:t>AI</a:t>
            </a:r>
            <a:r>
              <a:rPr lang="ja-JP" altLang="en-US" sz="3000" b="1" dirty="0">
                <a:solidFill>
                  <a:srgbClr val="1E293B"/>
                </a:solidFill>
                <a:latin typeface="Meiryo"/>
                <a:ea typeface="Meiryo"/>
              </a:rPr>
              <a:t>使用における</a:t>
            </a:r>
            <a:r>
              <a:rPr sz="3000" b="1" dirty="0" err="1">
                <a:solidFill>
                  <a:srgbClr val="1E293B"/>
                </a:solidFill>
                <a:latin typeface="Meiryo"/>
                <a:ea typeface="Meiryo"/>
              </a:rPr>
              <a:t>工夫</a:t>
            </a:r>
            <a:endParaRPr sz="3000" b="1" dirty="0">
              <a:solidFill>
                <a:srgbClr val="1E293B"/>
              </a:solidFill>
              <a:latin typeface="Meiryo"/>
              <a:ea typeface="Meiry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09103"/>
            <a:ext cx="201168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515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75569"/>
                </a:solidFill>
                <a:latin typeface="Meiryo"/>
                <a:ea typeface="Meiryo"/>
              </a:rPr>
              <a:t>そのまま使うと崩れる箇所に対策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0955102" cy="288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一覧ページを保存しない</a:t>
            </a:r>
            <a:r>
              <a:rPr sz="2400" b="0" dirty="0">
                <a:solidFill>
                  <a:srgbClr val="475569"/>
                </a:solidFill>
                <a:latin typeface="Meiryo"/>
                <a:ea typeface="Meiryo"/>
              </a:rPr>
              <a:t>　</a:t>
            </a:r>
            <a:endParaRPr lang="en-US" sz="2400" b="0" dirty="0">
              <a:solidFill>
                <a:srgbClr val="475569"/>
              </a:solidFill>
              <a:latin typeface="Meiryo"/>
              <a:ea typeface="Meiryo"/>
            </a:endParaRPr>
          </a:p>
          <a:p>
            <a:pPr>
              <a:spcAft>
                <a:spcPts val="900"/>
              </a:spcAft>
            </a:pP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文字化けを検出して再試行</a:t>
            </a:r>
            <a:r>
              <a:rPr sz="2400" b="0" dirty="0">
                <a:solidFill>
                  <a:srgbClr val="475569"/>
                </a:solidFill>
                <a:latin typeface="Meiryo"/>
                <a:ea typeface="Meiryo"/>
              </a:rPr>
              <a:t>　</a:t>
            </a:r>
            <a:endParaRPr lang="en-US" sz="2400" b="0" dirty="0">
              <a:solidFill>
                <a:srgbClr val="475569"/>
              </a:solidFill>
              <a:latin typeface="Meiryo"/>
              <a:ea typeface="Meiryo"/>
            </a:endParaRPr>
          </a:p>
          <a:p>
            <a:pPr>
              <a:spcAft>
                <a:spcPts val="900"/>
              </a:spcAft>
            </a:pP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日付</a:t>
            </a:r>
            <a:r>
              <a:rPr lang="ja-JP" altLang="en-US" sz="2400" b="1" dirty="0">
                <a:solidFill>
                  <a:srgbClr val="1E293B"/>
                </a:solidFill>
                <a:latin typeface="Meiryo"/>
                <a:ea typeface="Meiryo"/>
              </a:rPr>
              <a:t>・カテゴリ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を正規化</a:t>
            </a:r>
            <a:r>
              <a:rPr sz="2400" b="0" dirty="0">
                <a:solidFill>
                  <a:srgbClr val="475569"/>
                </a:solidFill>
                <a:latin typeface="Meiryo"/>
                <a:ea typeface="Meiryo"/>
              </a:rPr>
              <a:t>　</a:t>
            </a:r>
          </a:p>
          <a:p>
            <a:pPr>
              <a:spcAft>
                <a:spcPts val="900"/>
              </a:spcAft>
            </a:pP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重複を防止</a:t>
            </a:r>
            <a:r>
              <a:rPr sz="2400" b="0" dirty="0">
                <a:solidFill>
                  <a:srgbClr val="475569"/>
                </a:solidFill>
                <a:latin typeface="Meiryo"/>
                <a:ea typeface="Meiryo"/>
              </a:rPr>
              <a:t>　</a:t>
            </a:r>
          </a:p>
          <a:p>
            <a:pPr>
              <a:spcAft>
                <a:spcPts val="900"/>
              </a:spcAft>
            </a:pPr>
            <a:r>
              <a:rPr sz="2400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sz="2400" b="1" dirty="0" err="1">
                <a:solidFill>
                  <a:srgbClr val="1E293B"/>
                </a:solidFill>
                <a:latin typeface="Meiryo"/>
                <a:ea typeface="Meiryo"/>
              </a:rPr>
              <a:t>並列化しない</a:t>
            </a:r>
            <a:r>
              <a:rPr sz="2400" b="0" dirty="0">
                <a:solidFill>
                  <a:srgbClr val="475569"/>
                </a:solidFill>
                <a:latin typeface="Meiryo"/>
                <a:ea typeface="Meiryo"/>
              </a:rPr>
              <a:t>　</a:t>
            </a:r>
            <a:endParaRPr lang="en-US" sz="2400" b="0" dirty="0">
              <a:solidFill>
                <a:srgbClr val="475569"/>
              </a:solidFill>
              <a:latin typeface="Meiryo"/>
              <a:ea typeface="Meiryo"/>
            </a:endParaRPr>
          </a:p>
          <a:p>
            <a:pPr>
              <a:spcAft>
                <a:spcPts val="900"/>
              </a:spcAft>
            </a:pPr>
            <a:r>
              <a:rPr lang="en-US" sz="2400" dirty="0" err="1">
                <a:solidFill>
                  <a:srgbClr val="475569"/>
                </a:solidFill>
                <a:latin typeface="Meiryo"/>
                <a:ea typeface="Meiryo"/>
              </a:rPr>
              <a:t>atodekesu</a:t>
            </a:r>
            <a:endParaRPr sz="2400" b="0" dirty="0">
              <a:solidFill>
                <a:srgbClr val="475569"/>
              </a:solidFill>
              <a:latin typeface="Meiryo"/>
              <a:ea typeface="Meiry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Meiryo"/>
                <a:ea typeface="Meiryo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6070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ja-JP" altLang="en-US" sz="3000" b="1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データ収集する上での</a:t>
            </a:r>
            <a:r>
              <a:rPr sz="3000" b="1" dirty="0" err="1">
                <a:solidFill>
                  <a:srgbClr val="1E293B"/>
                </a:solidFill>
                <a:latin typeface="Meiryo"/>
              </a:rPr>
              <a:t>著作権への配慮</a:t>
            </a:r>
            <a:endParaRPr sz="3000" b="1" dirty="0">
              <a:solidFill>
                <a:srgbClr val="1E293B"/>
              </a:solidFill>
              <a:latin typeface="Meiry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799" y="864783"/>
            <a:ext cx="6543137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6888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Meiryo"/>
              </a:rPr>
              <a:t>差別化ポイント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74205"/>
            <a:ext cx="1060704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全登録サイトの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 robots.txt</a:t>
            </a:r>
            <a:r>
              <a:rPr lang="ja-JP" altLang="en-US" sz="1800" b="1" dirty="0">
                <a:solidFill>
                  <a:srgbClr val="1E293B"/>
                </a:solidFill>
                <a:latin typeface="Meiryo"/>
              </a:rPr>
              <a:t>（検索エンジン、</a:t>
            </a:r>
            <a:r>
              <a:rPr lang="en-US" altLang="ja-JP" sz="1800" b="1" dirty="0">
                <a:solidFill>
                  <a:srgbClr val="1E293B"/>
                </a:solidFill>
                <a:latin typeface="Meiryo"/>
              </a:rPr>
              <a:t>AI</a:t>
            </a:r>
            <a:r>
              <a:rPr lang="ja-JP" altLang="en-US" sz="1800" b="1" dirty="0">
                <a:solidFill>
                  <a:srgbClr val="1E293B"/>
                </a:solidFill>
                <a:latin typeface="Meiryo"/>
              </a:rPr>
              <a:t>のデータ取集ルール）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・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利用規約を個別に調査</a:t>
            </a:r>
            <a:endParaRPr sz="18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自治体公式サイトを優先（リスク低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）、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規約が厳しいサイトは画像OFF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/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除外</a:t>
            </a:r>
            <a:endParaRPr sz="18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方針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: 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画像は表示しない・要約は短く・必ず元記事へリンク送客</a:t>
            </a:r>
            <a:endParaRPr sz="18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管理画面にサイト別の画像ON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/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OFF・規約メモ機能を実装</a:t>
            </a:r>
            <a:endParaRPr sz="1800" b="1" dirty="0">
              <a:solidFill>
                <a:srgbClr val="1E293B"/>
              </a:solidFill>
              <a:latin typeface="Meiryo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2FD7DD1-946A-D737-D2B4-D07C320B95F2}"/>
              </a:ext>
            </a:extLst>
          </p:cNvPr>
          <p:cNvSpPr txBox="1"/>
          <p:nvPr/>
        </p:nvSpPr>
        <p:spPr>
          <a:xfrm>
            <a:off x="547914" y="4185915"/>
            <a:ext cx="8416678" cy="314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00"/>
              </a:spcAft>
            </a:pPr>
            <a:br>
              <a:rPr lang="en-US" altLang="ja-JP" sz="3200" b="1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常時起動サーバーへ移行し、</a:t>
            </a: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60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秒制限を撤廃（自宅サーバー </a:t>
            </a: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/ Render 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等）</a:t>
            </a:r>
          </a:p>
          <a:p>
            <a:pPr>
              <a:spcAft>
                <a:spcPts val="1400"/>
              </a:spcAft>
            </a:pP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参照元から消えたイベントの同期、終了イベントの自動整理</a:t>
            </a:r>
          </a:p>
          <a:p>
            <a:pPr>
              <a:spcAft>
                <a:spcPts val="1400"/>
              </a:spcAft>
            </a:pP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収集対象サイトの拡大（</a:t>
            </a: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20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市町を網羅）</a:t>
            </a:r>
            <a:endParaRPr lang="en-US" altLang="ja-JP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400"/>
              </a:spcAft>
            </a:pPr>
            <a:r>
              <a:rPr lang="en-US" altLang="ja-JP" b="1" dirty="0">
                <a:solidFill>
                  <a:srgbClr val="1E293B"/>
                </a:solidFill>
                <a:latin typeface="Meiryo"/>
                <a:ea typeface="Meiryo"/>
              </a:rPr>
              <a:t>•  </a:t>
            </a:r>
            <a:r>
              <a:rPr lang="ja-JP" altLang="en-US" b="1" dirty="0">
                <a:solidFill>
                  <a:srgbClr val="1E293B"/>
                </a:solidFill>
                <a:latin typeface="Meiryo"/>
                <a:ea typeface="Meiryo"/>
              </a:rPr>
              <a:t>通知の配信時刻を固定し深夜は送らない</a:t>
            </a:r>
            <a:r>
              <a:rPr lang="ja-JP" altLang="en-US" sz="1600" dirty="0">
                <a:solidFill>
                  <a:srgbClr val="475569"/>
                </a:solidFill>
                <a:latin typeface="Meiryo"/>
                <a:ea typeface="Meiryo"/>
              </a:rPr>
              <a:t>　</a:t>
            </a:r>
            <a:r>
              <a:rPr lang="en-US" altLang="ja-JP" dirty="0">
                <a:solidFill>
                  <a:srgbClr val="475569"/>
                </a:solidFill>
                <a:latin typeface="Meiryo"/>
                <a:ea typeface="Meiryo"/>
              </a:rPr>
              <a:t>19</a:t>
            </a:r>
            <a:r>
              <a:rPr lang="ja-JP" altLang="en-US" dirty="0">
                <a:solidFill>
                  <a:srgbClr val="475569"/>
                </a:solidFill>
                <a:latin typeface="Meiryo"/>
                <a:ea typeface="Meiryo"/>
              </a:rPr>
              <a:t>時に通知</a:t>
            </a:r>
            <a:endParaRPr lang="ja-JP" altLang="en-US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400"/>
              </a:spcAft>
            </a:pP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•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　多言語化（</a:t>
            </a:r>
            <a:r>
              <a:rPr lang="en-US" altLang="ja-JP" b="1" dirty="0" err="1">
                <a:solidFill>
                  <a:srgbClr val="1E293B"/>
                </a:solidFill>
                <a:latin typeface="Meiryo"/>
              </a:rPr>
              <a:t>vercel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の</a:t>
            </a: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60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秒制限により厳しい）</a:t>
            </a:r>
            <a:endParaRPr lang="ja-JP" altLang="en-US" sz="3200" b="1" dirty="0">
              <a:solidFill>
                <a:srgbClr val="1E293B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ja-JP" altLang="en-US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D7FC7D8E-401F-AF14-436C-119B638F0BB6}"/>
              </a:ext>
            </a:extLst>
          </p:cNvPr>
          <p:cNvSpPr/>
          <p:nvPr/>
        </p:nvSpPr>
        <p:spPr>
          <a:xfrm>
            <a:off x="769476" y="4491672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0DB000BD-53B5-F2F3-57B5-A22B6F6E1D47}"/>
              </a:ext>
            </a:extLst>
          </p:cNvPr>
          <p:cNvSpPr txBox="1"/>
          <p:nvPr/>
        </p:nvSpPr>
        <p:spPr>
          <a:xfrm>
            <a:off x="769476" y="4027028"/>
            <a:ext cx="2166349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ja-JP" altLang="en-US" sz="3000" b="1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今後の展望</a:t>
            </a:r>
            <a:endParaRPr sz="3000" b="1" dirty="0">
              <a:solidFill>
                <a:srgbClr val="1E293B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ja-JP" altLang="en-US" sz="2000" dirty="0">
                <a:solidFill>
                  <a:srgbClr val="FFFFFF"/>
                </a:solidFill>
                <a:latin typeface="Meiryo"/>
              </a:rPr>
              <a:t>✓　愛媛県内のイベントが一目でわかるサイトを作成</a:t>
            </a:r>
            <a:endParaRPr lang="en-US" sz="20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FFFFFF"/>
                </a:solidFill>
                <a:latin typeface="Meiryo"/>
              </a:rPr>
              <a:t>✓  TypeScript + React + Hono + Bedrock GLM-5 + DynamoDB を </a:t>
            </a:r>
            <a:r>
              <a:rPr sz="2000" dirty="0" err="1">
                <a:solidFill>
                  <a:srgbClr val="FFFFFF"/>
                </a:solidFill>
                <a:latin typeface="Meiryo"/>
              </a:rPr>
              <a:t>Vercel</a:t>
            </a:r>
            <a:r>
              <a:rPr sz="2000" dirty="0">
                <a:solidFill>
                  <a:srgbClr val="FFFFFF"/>
                </a:solidFill>
                <a:latin typeface="Meiryo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Meiryo"/>
              </a:rPr>
              <a:t>で運用</a:t>
            </a:r>
            <a:endParaRPr sz="20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FFFFFF"/>
                </a:solidFill>
                <a:latin typeface="Meiryo"/>
              </a:rPr>
              <a:t>✓  </a:t>
            </a:r>
            <a:r>
              <a:rPr sz="2000" dirty="0" err="1">
                <a:solidFill>
                  <a:srgbClr val="FFFFFF"/>
                </a:solidFill>
                <a:latin typeface="Meiryo"/>
              </a:rPr>
              <a:t>スクレイピング〜AI要約〜表示までを自動化し、愛媛のイベントを一元化</a:t>
            </a:r>
            <a:endParaRPr sz="20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FFFFFF"/>
                </a:solidFill>
                <a:latin typeface="Meiryo"/>
              </a:rPr>
              <a:t>✓  </a:t>
            </a:r>
            <a:r>
              <a:rPr sz="2000" dirty="0" err="1">
                <a:solidFill>
                  <a:srgbClr val="FFFFFF"/>
                </a:solidFill>
                <a:latin typeface="Meiryo"/>
              </a:rPr>
              <a:t>時間制限・AI特性・著作権といった制約に、現実的な工夫で対応</a:t>
            </a:r>
            <a:endParaRPr lang="en-US" sz="20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endParaRPr lang="en-US" sz="20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lang="ja-JP" altLang="en-US" sz="1400" dirty="0">
                <a:solidFill>
                  <a:srgbClr val="FFFFFF"/>
                </a:solidFill>
                <a:latin typeface="Meiryo"/>
              </a:rPr>
              <a:t>データの出典</a:t>
            </a:r>
            <a:endParaRPr lang="en-US" altLang="ja-JP" sz="14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lang="en-US" sz="1200" dirty="0">
                <a:solidFill>
                  <a:schemeClr val="bg1"/>
                </a:solidFill>
                <a:latin typeface="Meiry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https://www.city.matsuyama.ehime.jp/kanko/kankoguide/matsurievent/index.html</a:t>
            </a:r>
            <a:endParaRPr lang="en-US" sz="1200" dirty="0">
              <a:solidFill>
                <a:schemeClr val="bg1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lang="en-US" sz="1200" dirty="0">
                <a:solidFill>
                  <a:schemeClr val="bg1"/>
                </a:solidFill>
                <a:latin typeface="Meiry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https://www.city.imabari.ehime.jp/event/</a:t>
            </a:r>
            <a:endParaRPr lang="en-US" sz="1200" dirty="0">
              <a:solidFill>
                <a:schemeClr val="bg1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lang="en-US" sz="1200" dirty="0">
                <a:solidFill>
                  <a:schemeClr val="bg1"/>
                </a:solidFill>
                <a:latin typeface="Meiry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https://www.city.ozu.ehime.jp/soshiki/list6-1.html</a:t>
            </a:r>
            <a:endParaRPr lang="en-US" sz="1200" dirty="0">
              <a:solidFill>
                <a:schemeClr val="bg1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lang="en-US" sz="1200" dirty="0">
                <a:solidFill>
                  <a:schemeClr val="bg1"/>
                </a:solidFill>
                <a:latin typeface="Meiry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https://www.town.ainan.ehime.jp/kanko/sightseeing/matsuri/</a:t>
            </a:r>
            <a:endParaRPr lang="en-US" sz="1200" dirty="0">
              <a:solidFill>
                <a:schemeClr val="bg1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endParaRPr lang="en-US" sz="14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endParaRPr sz="1400" dirty="0">
              <a:solidFill>
                <a:srgbClr val="FFFFFF"/>
              </a:solidFill>
              <a:latin typeface="Meiry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75569"/>
                </a:solidFill>
                <a:latin typeface="Meiryo"/>
                <a:ea typeface="Meiry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741</Words>
  <Application>Microsoft Office PowerPoint</Application>
  <PresentationFormat>ワイド画面</PresentationFormat>
  <Paragraphs>150</Paragraphs>
  <Slides>13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メイリオ</vt:lpstr>
      <vt:lpstr>メイリオ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ユーザー体験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Owner</dc:creator>
  <cp:keywords/>
  <dc:description>generated using python-pptx</dc:description>
  <cp:lastModifiedBy>two witchcraft</cp:lastModifiedBy>
  <cp:revision>23</cp:revision>
  <dcterms:created xsi:type="dcterms:W3CDTF">2013-01-27T09:14:16Z</dcterms:created>
  <dcterms:modified xsi:type="dcterms:W3CDTF">2026-08-24T09:21:38Z</dcterms:modified>
  <cp:category/>
</cp:coreProperties>
</file>