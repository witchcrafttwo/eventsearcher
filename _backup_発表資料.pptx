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9" r:id="rId5"/>
    <p:sldId id="266" r:id="rId6"/>
    <p:sldId id="260" r:id="rId7"/>
    <p:sldId id="261" r:id="rId8"/>
    <p:sldId id="263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64B9F-F516-4D3B-B2A7-4E3A69226596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2EFF-F51A-46AE-AE2E-0D4A82970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84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748F85-ACB3-2F07-2E84-ED4BC736F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67C89C0-D411-934B-2BEA-0B3040689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6EE6DF-9325-EA48-1C9C-040E0944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2E2498-05FD-A141-DC8E-C7C64383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3C296F-0930-0F63-10E3-C63C097E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526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6B107-B3CD-2816-CB18-148B503B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DD6148-0BB6-4E85-9C54-C2BF0F38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65FB28-8879-714F-940E-00A3AF1A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D8A071-2299-FA62-11D2-36EFE43E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9B402-6E41-434B-DD18-11FFBFAF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648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47D1C-7D30-8C21-0CB9-D4A7897C2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83B29B-6B1F-E4D9-0DF8-1180D28A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B79E1-255A-B24C-9ACA-A5B38C2A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DDB75A-0959-1FFD-64FC-AABDF715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C2E0A8-4765-F8EB-DB78-917B4485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19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B52D5-6E03-54D8-30C9-0382BBC5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6C5983-60A3-40FA-1AAC-646E140BF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D6254F-B605-7FF2-D599-780C82EC9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49221B-EA67-8184-28A5-9F7557D5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225ECF-492A-17CD-D9CB-29BC96EB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0C7255-69AF-7A32-115E-1C302771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956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6E26DE-44EB-565F-4F7B-6FC6C93F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79B30F-A9E0-A085-57A0-B2BB8A7F6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58218B-D1D3-DB96-04A7-AE06392C8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97288F-DCE8-693A-C940-28D65EB9D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E455A8-8DFE-5072-B90A-8E7E51DC0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1753C3-AB3B-BC27-C3C6-27F5AE3F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AD239D-82F6-7F04-B105-D030D5D0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3DB1FB5-B3CE-5E61-E3F1-06522DD6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201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58242-9C78-B612-FE97-0457FA95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9E18EA-AD29-EBA3-DA96-55700926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8AF726-498B-11CA-A920-0E268CAC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EC21F3-F04D-9707-560A-B75D63EF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177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D417D8-7A36-19B1-0C54-0075979F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9A4A50-77E9-2155-F579-6442B5A5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93CD0D-964E-AC30-82CD-05C46848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00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154160-5713-FA48-4E72-29696344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DF432E-C536-098C-A993-4333E1D19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2D78F1-4FE4-9C3D-8C15-5CDCF90FE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329044-344B-0806-B73B-410F900C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EC5430-E0B5-5FF1-A1C3-144F83B1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927C7E-4DAA-7B68-EF54-0CABF0B5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21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BC0201-B4B4-94E4-525F-4EA03753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D57D2A-17F2-499B-712F-FC6B0DF1B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447865-80E9-9C25-DABB-BCFF8DFF1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6EE029-1A40-5298-B650-B3B35087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395CB4-6998-02FB-C5DC-0B6827AA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FE8176-00D2-20ED-5FEF-2F68BEF1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110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2322D1-910F-3C35-D58E-FC095909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BD3EF9-F548-EF9C-8058-33552013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5C1FD0-AF2E-4380-E72F-AF9BF473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58C7E-815A-9D98-8572-283B6B81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BCEEC-19B9-44C0-EA3E-022FCE5C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451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0622B6-AC38-0CCE-874E-C8DC000CC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83D0D6-5089-B94D-CC1B-7D91942F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B24DD7-B3DC-A572-2825-A60392BD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AC7B4-6F8C-F888-C4FE-DBBAC436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41E353-554B-EEB0-D543-460BF3E0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24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83B314-EEB3-4947-E597-0CB96DEF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1448BF-7A6E-48E6-ED08-B9C525E3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CCFCC8-3C1E-85E3-8783-931102D60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AA202-BA58-4EF1-9845-6C2033829DB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9E321B-1FB7-0F7B-4AB5-D571A183D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CCFF90-E66B-5E2C-BB3C-94F03C19A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16CC6-C43E-41A2-B793-E7B6379D8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16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vent-searcher-server.vercel.app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-searcher-server.vercel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ty.imabari.ehime.jp/event/" TargetMode="External"/><Relationship Id="rId2" Type="http://schemas.openxmlformats.org/officeDocument/2006/relationships/hyperlink" Target="https://www.city.matsuyama.ehime.jp/kanko/kankoguide/matsurievent/index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own.ainan.ehime.jp/kanko/sightseeing/matsuri/" TargetMode="External"/><Relationship Id="rId4" Type="http://schemas.openxmlformats.org/officeDocument/2006/relationships/hyperlink" Target="https://www.city.ozu.ehime.jp/soshiki/list6-1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3118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4169664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3960" y="1477769"/>
            <a:ext cx="103327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ja-JP" sz="5400" b="1" dirty="0">
                <a:solidFill>
                  <a:srgbClr val="FFFFFF"/>
                </a:solidFill>
                <a:latin typeface="Meiryo"/>
              </a:rPr>
              <a:t>【</a:t>
            </a:r>
            <a:r>
              <a:rPr lang="ja-JP" altLang="en-US" sz="5400" b="1" dirty="0">
                <a:solidFill>
                  <a:srgbClr val="FFFFFF"/>
                </a:solidFill>
                <a:latin typeface="Meiryo"/>
              </a:rPr>
              <a:t>タイトル</a:t>
            </a:r>
            <a:r>
              <a:rPr lang="en-US" altLang="ja-JP" sz="5400" b="1" dirty="0">
                <a:solidFill>
                  <a:srgbClr val="FFFFFF"/>
                </a:solidFill>
                <a:latin typeface="Meiryo"/>
              </a:rPr>
              <a:t>】</a:t>
            </a:r>
            <a:r>
              <a:rPr sz="5400" b="1" dirty="0" err="1">
                <a:solidFill>
                  <a:schemeClr val="accent6"/>
                </a:solidFill>
                <a:latin typeface="Meiryo"/>
              </a:rPr>
              <a:t>えひめイベントナビ</a:t>
            </a:r>
            <a:endParaRPr sz="5400" b="1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3960" y="2489547"/>
            <a:ext cx="10332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800" b="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800" b="0" dirty="0">
                <a:solidFill>
                  <a:schemeClr val="bg1"/>
                </a:solidFill>
                <a:latin typeface="Meiryo"/>
              </a:rPr>
              <a:t>サブタイトル</a:t>
            </a:r>
            <a:r>
              <a:rPr lang="en-US" altLang="ja-JP" sz="2800" b="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800" b="0" dirty="0">
                <a:solidFill>
                  <a:schemeClr val="accent6"/>
                </a:solidFill>
                <a:latin typeface="Meiryo"/>
              </a:rPr>
              <a:t>～あなたにぴったりのイベントが、自動で届く～</a:t>
            </a:r>
            <a:endParaRPr sz="2800" b="0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7138" y="5377640"/>
            <a:ext cx="10332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ja-JP" sz="280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800" dirty="0">
                <a:solidFill>
                  <a:schemeClr val="bg1"/>
                </a:solidFill>
                <a:latin typeface="Meiryo"/>
              </a:rPr>
              <a:t>所属・チーム名</a:t>
            </a:r>
            <a:r>
              <a:rPr lang="en-US" altLang="ja-JP" sz="280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800" dirty="0">
                <a:solidFill>
                  <a:schemeClr val="accent6"/>
                </a:solidFill>
                <a:latin typeface="Meiryo"/>
              </a:rPr>
              <a:t>人間環境大学　２年２組</a:t>
            </a:r>
            <a:endParaRPr sz="2800" b="0" dirty="0">
              <a:solidFill>
                <a:schemeClr val="accent6"/>
              </a:solidFill>
              <a:latin typeface="Meiryo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9E1587-7777-0C76-4F7A-AD4E9245725E}"/>
              </a:ext>
            </a:extLst>
          </p:cNvPr>
          <p:cNvSpPr txBox="1"/>
          <p:nvPr/>
        </p:nvSpPr>
        <p:spPr>
          <a:xfrm>
            <a:off x="1073960" y="3182043"/>
            <a:ext cx="7321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  <a:latin typeface="Meiryo"/>
              </a:rPr>
              <a:t>【</a:t>
            </a:r>
            <a:r>
              <a:rPr lang="ja-JP" altLang="en-US" sz="2400" dirty="0">
                <a:solidFill>
                  <a:schemeClr val="bg1"/>
                </a:solidFill>
                <a:latin typeface="Meiryo"/>
              </a:rPr>
              <a:t>選択したテーマ名</a:t>
            </a:r>
            <a:r>
              <a:rPr lang="en-US" altLang="ja-JP" sz="2400" dirty="0">
                <a:solidFill>
                  <a:schemeClr val="bg1"/>
                </a:solidFill>
                <a:latin typeface="Meiryo"/>
              </a:rPr>
              <a:t>】</a:t>
            </a:r>
            <a:r>
              <a:rPr lang="ja-JP" altLang="en-US" sz="2400" dirty="0">
                <a:solidFill>
                  <a:schemeClr val="accent6"/>
                </a:solidFill>
                <a:latin typeface="Meiryo"/>
              </a:rPr>
              <a:t>ライフスタイル・パーソナルナビ</a:t>
            </a:r>
          </a:p>
          <a:p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9607D76-D6E1-A754-87A9-140F9B9C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434" y="4800857"/>
            <a:ext cx="2057143" cy="2057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 err="1">
                <a:solidFill>
                  <a:srgbClr val="1E293B"/>
                </a:solidFill>
                <a:latin typeface="Meiryo"/>
              </a:rPr>
              <a:t>課題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475569"/>
                </a:solidFill>
                <a:latin typeface="Meiryo"/>
              </a:rPr>
              <a:t>愛媛のイベント情報は散らばっている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0704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イベント情報が市役所・観光協会・商業施設など、サイトごとにバラバラ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「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今週どこで何がある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？」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を調べるのに複数サイトの巡回が必要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地域や興味で横断的に探せる仕組みがない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 lvl="1">
              <a:spcAft>
                <a:spcPts val="1000"/>
              </a:spcAft>
            </a:pPr>
            <a:r>
              <a:rPr sz="2400" b="0" dirty="0">
                <a:solidFill>
                  <a:srgbClr val="475569"/>
                </a:solidFill>
                <a:latin typeface="Meiryo"/>
              </a:rPr>
              <a:t> →</a:t>
            </a:r>
            <a:r>
              <a:rPr lang="ja-JP" altLang="en-US" sz="2400" b="0" dirty="0">
                <a:solidFill>
                  <a:srgbClr val="475569"/>
                </a:solidFill>
                <a:latin typeface="Meiryo"/>
              </a:rPr>
              <a:t>　</a:t>
            </a:r>
            <a:r>
              <a:rPr sz="2400" b="0" dirty="0">
                <a:solidFill>
                  <a:srgbClr val="475569"/>
                </a:solidFill>
                <a:latin typeface="Meiryo"/>
              </a:rPr>
              <a:t> </a:t>
            </a:r>
            <a:r>
              <a:rPr sz="2400" b="0" dirty="0" err="1">
                <a:solidFill>
                  <a:srgbClr val="475569"/>
                </a:solidFill>
                <a:latin typeface="Meiryo"/>
              </a:rPr>
              <a:t>一箇所にまとめて</a:t>
            </a:r>
            <a:endParaRPr lang="en-US" sz="2400" b="0" dirty="0">
              <a:solidFill>
                <a:srgbClr val="475569"/>
              </a:solidFill>
              <a:latin typeface="Meiryo"/>
            </a:endParaRPr>
          </a:p>
          <a:p>
            <a:pPr lvl="1">
              <a:spcAft>
                <a:spcPts val="1000"/>
              </a:spcAft>
            </a:pPr>
            <a:r>
              <a:rPr lang="ja-JP" altLang="en-US" sz="2400" b="0" dirty="0">
                <a:solidFill>
                  <a:srgbClr val="475569"/>
                </a:solidFill>
                <a:latin typeface="Meiryo"/>
              </a:rPr>
              <a:t>　　　　</a:t>
            </a:r>
            <a:r>
              <a:rPr sz="2400" b="0" dirty="0" err="1">
                <a:solidFill>
                  <a:srgbClr val="475569"/>
                </a:solidFill>
                <a:latin typeface="Meiryo"/>
              </a:rPr>
              <a:t>地域・カテゴリで探せるサービスが欲しい</a:t>
            </a:r>
            <a:endParaRPr sz="2400" b="0" dirty="0">
              <a:solidFill>
                <a:srgbClr val="475569"/>
              </a:solidFill>
              <a:latin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DE8388-024F-7B21-CFCD-0E7A1C8F5F78}"/>
              </a:ext>
            </a:extLst>
          </p:cNvPr>
          <p:cNvSpPr txBox="1"/>
          <p:nvPr/>
        </p:nvSpPr>
        <p:spPr>
          <a:xfrm>
            <a:off x="685800" y="6248400"/>
            <a:ext cx="815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73B317B6-F16F-3F7F-4ACB-C95408E6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62" y="2793799"/>
            <a:ext cx="3761958" cy="3960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</a:rPr>
              <a:t>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2563EB"/>
                </a:solidFill>
                <a:latin typeface="Meiryo"/>
              </a:rPr>
              <a:t>ユーザー画面</a:t>
            </a:r>
            <a:endParaRPr sz="2400" b="1" dirty="0">
              <a:solidFill>
                <a:srgbClr val="2563EB"/>
              </a:solidFill>
              <a:latin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068" y="2331720"/>
            <a:ext cx="5575252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市町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 ×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カテゴリ（複数選択）で</a:t>
            </a:r>
            <a:r>
              <a:rPr lang="ja-JP" altLang="en-US" sz="20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絞り込み</a:t>
            </a:r>
            <a:endParaRPr sz="2000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終了イベントの非表示切替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ブックマーク（localStorage保存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）</a:t>
            </a:r>
            <a:endParaRPr lang="en-US"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lang="en-US" altLang="ja-JP" sz="2000" b="1" dirty="0">
                <a:solidFill>
                  <a:srgbClr val="1E293B"/>
                </a:solidFill>
                <a:latin typeface="Meiryo"/>
              </a:rPr>
              <a:t>•</a:t>
            </a:r>
            <a:r>
              <a:rPr lang="ja-JP" altLang="en-US" sz="2000" b="1" dirty="0">
                <a:solidFill>
                  <a:srgbClr val="1E293B"/>
                </a:solidFill>
                <a:latin typeface="Meiryo"/>
              </a:rPr>
              <a:t>　通知機能</a:t>
            </a:r>
            <a:endParaRPr lang="en-US"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endParaRPr sz="2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F97316"/>
                </a:solidFill>
                <a:latin typeface="Meiryo"/>
              </a:rPr>
              <a:t>管理画面</a:t>
            </a:r>
            <a:endParaRPr sz="2400" b="1" dirty="0">
              <a:solidFill>
                <a:srgbClr val="F97316"/>
              </a:solidFill>
              <a:latin typeface="Meiry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51206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サイト登録・AI固定カテゴリ設定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試し取得（保存せず候補確認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イベント個別編集・AI要約やり直し</a:t>
            </a:r>
            <a:endParaRPr sz="20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統計・カテゴリ</a:t>
            </a:r>
            <a:r>
              <a:rPr sz="20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2000" b="1" dirty="0" err="1">
                <a:solidFill>
                  <a:srgbClr val="1E293B"/>
                </a:solidFill>
                <a:latin typeface="Meiryo"/>
              </a:rPr>
              <a:t>エリア内訳</a:t>
            </a:r>
            <a:endParaRPr sz="2000" b="1" dirty="0">
              <a:solidFill>
                <a:srgbClr val="1E293B"/>
              </a:solidFill>
              <a:latin typeface="Meiryo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9E3C525-35B6-8D89-6E36-E17310B3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857" y="4777997"/>
            <a:ext cx="2057143" cy="20571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D4007C-F9E4-BD19-7FFA-3C631B078550}"/>
              </a:ext>
            </a:extLst>
          </p:cNvPr>
          <p:cNvSpPr txBox="1"/>
          <p:nvPr/>
        </p:nvSpPr>
        <p:spPr>
          <a:xfrm>
            <a:off x="536562" y="6261854"/>
            <a:ext cx="710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linkClick r:id="rId3"/>
              </a:rPr>
              <a:t>https://event-searcher-server.vercel.app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8D77FA8-E027-8DBB-130C-3D5D632D8F1F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0F21D8-1538-A59F-708E-4DAF8A3EBEB0}"/>
              </a:ext>
            </a:extLst>
          </p:cNvPr>
          <p:cNvSpPr txBox="1"/>
          <p:nvPr/>
        </p:nvSpPr>
        <p:spPr>
          <a:xfrm>
            <a:off x="385314" y="201283"/>
            <a:ext cx="1161690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ja-JP" altLang="en-US" sz="3000" b="1" dirty="0"/>
              <a:t>ユーザー体験</a:t>
            </a:r>
            <a:endParaRPr kumimoji="1" lang="en-US" altLang="ja-JP" sz="3000" b="1" dirty="0"/>
          </a:p>
          <a:p>
            <a:endParaRPr kumimoji="1" lang="en-US" altLang="ja-JP" sz="3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800" b="1" dirty="0"/>
              <a:t>シンプルなレイアウトにより操作感の向上</a:t>
            </a:r>
            <a:endParaRPr kumimoji="1" lang="en-US" altLang="ja-JP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800" b="1" dirty="0"/>
              <a:t>ＰＷＡにすることにより、</a:t>
            </a:r>
            <a:r>
              <a:rPr kumimoji="1" lang="en-US" altLang="ja-JP" sz="2800" b="1" dirty="0" err="1"/>
              <a:t>googleplaystore</a:t>
            </a:r>
            <a:r>
              <a:rPr kumimoji="1" lang="ja-JP" altLang="en-US" sz="2800" b="1" dirty="0"/>
              <a:t>や</a:t>
            </a:r>
            <a:r>
              <a:rPr kumimoji="1" lang="en-US" altLang="ja-JP" sz="2800" b="1" dirty="0" err="1"/>
              <a:t>applestore</a:t>
            </a:r>
            <a:r>
              <a:rPr kumimoji="1" lang="ja-JP" altLang="en-US" sz="2800" b="1" dirty="0"/>
              <a:t>に出す必要がなくなり、コストの削減かつ手軽に</a:t>
            </a:r>
            <a:endParaRPr kumimoji="1" lang="en-US" altLang="ja-JP" sz="2800" b="1" dirty="0"/>
          </a:p>
          <a:p>
            <a:r>
              <a:rPr kumimoji="1" lang="en-US" altLang="ja-JP" sz="2800" b="1" dirty="0"/>
              <a:t>    </a:t>
            </a:r>
            <a:r>
              <a:rPr kumimoji="1" lang="ja-JP" altLang="en-US" sz="2800" b="1" dirty="0"/>
              <a:t>インストールすることが可能になった</a:t>
            </a:r>
            <a:endParaRPr kumimoji="1" lang="en-US" altLang="ja-JP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800" b="1" dirty="0"/>
              <a:t>最新のイベント通知が来ることによってアプリに気づきやすい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167CE-1C19-DFD8-3FF4-7E1B00DBA995}"/>
              </a:ext>
            </a:extLst>
          </p:cNvPr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D5E672-C38F-DC17-A4EE-26F62B934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50" y="4800857"/>
            <a:ext cx="2057143" cy="2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4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eiryo"/>
              </a:rPr>
              <a:t>技術スタック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675" y="929153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1675" y="929153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115" y="929153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フロント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755" y="929153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TypeScript / React 18 / Vite / lucide-react（PWA）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675" y="1587521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1675" y="1587521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115" y="1587521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7755" y="1587521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TypeScript / Hono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675" y="2245889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1675" y="2245889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115" y="2245889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7755" y="2245889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Amazon Bedrock  GLM-5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675" y="2904257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675" y="2904257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115" y="2904257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7755" y="2904257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Amazon DynamoDB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675" y="3562625"/>
            <a:ext cx="1060704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1675" y="3562625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115" y="3562625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ホスティング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7755" y="3562625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Vercel（Cron・SPA配信）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675" y="4220993"/>
            <a:ext cx="10607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1675" y="4220993"/>
            <a:ext cx="27432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3115" y="4220993"/>
            <a:ext cx="2560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その他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7755" y="4220993"/>
            <a:ext cx="7589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Meiryo"/>
              </a:rPr>
              <a:t>aws4fetch(SigV4) / モノレポ(npm workspaces) / AWS CDK / GitHub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4746ADBE-FD9C-B554-DADB-FE7712AB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584" y="0"/>
            <a:ext cx="1663951" cy="1663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439DFE9-CD7E-9DC4-BED2-C13F9821F3B4}"/>
              </a:ext>
            </a:extLst>
          </p:cNvPr>
          <p:cNvSpPr/>
          <p:nvPr/>
        </p:nvSpPr>
        <p:spPr>
          <a:xfrm>
            <a:off x="2531680" y="1720706"/>
            <a:ext cx="3344864" cy="6199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Meiryo"/>
              </a:rPr>
              <a:t>技術的チャレンジ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60812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91896" y="2739986"/>
            <a:ext cx="1691640" cy="10972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134737"/>
            <a:ext cx="174345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イベントサイトを登録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83536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1680" y="2739986"/>
            <a:ext cx="3344864" cy="10972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531680" y="2988544"/>
            <a:ext cx="3454592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web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サイトから</a:t>
            </a: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AI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がデータ収集、要約</a:t>
            </a:r>
            <a:endParaRPr lang="en-US" altLang="ja-JP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FFFFFF"/>
                </a:solidFill>
                <a:latin typeface="Meiryo"/>
              </a:rPr>
              <a:t>Hono+GLM-5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14960" y="3157820"/>
            <a:ext cx="713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1136" y="2739986"/>
            <a:ext cx="1636776" cy="10972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601" y="2964007"/>
            <a:ext cx="1691640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データベースに登録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DynamoDB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640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7368" y="2739986"/>
            <a:ext cx="1856232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5434" y="2880822"/>
            <a:ext cx="1856232" cy="815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ja-JP" sz="1400" b="1" dirty="0">
                <a:solidFill>
                  <a:srgbClr val="FFFFFF"/>
                </a:solidFill>
                <a:latin typeface="Meiryo"/>
              </a:rPr>
              <a:t>DB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から必要なデータを取得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API /events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8715" y="2739986"/>
            <a:ext cx="1097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0377" y="2739986"/>
            <a:ext cx="1897811" cy="10972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3462" y="2988544"/>
            <a:ext cx="1691640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ブラウザに表示</a:t>
            </a:r>
            <a:endParaRPr lang="en-US" sz="1400" b="1" dirty="0">
              <a:solidFill>
                <a:srgbClr val="FFFFFF"/>
              </a:solidFill>
              <a:latin typeface="Meiryo"/>
            </a:endParaRPr>
          </a:p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</a:rPr>
              <a:t>React 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3848" y="4099947"/>
            <a:ext cx="10607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chemeClr val="accent6">
                    <a:lumMod val="75000"/>
                  </a:schemeClr>
                </a:solidFill>
                <a:latin typeface="Meiryo"/>
              </a:rPr>
              <a:t>↑ </a:t>
            </a:r>
            <a:r>
              <a:rPr sz="1600" b="1" dirty="0" err="1">
                <a:solidFill>
                  <a:schemeClr val="accent6">
                    <a:lumMod val="75000"/>
                  </a:schemeClr>
                </a:solidFill>
                <a:latin typeface="Meiryo"/>
              </a:rPr>
              <a:t>Vercel</a:t>
            </a:r>
            <a:r>
              <a:rPr sz="1600" b="1" dirty="0">
                <a:solidFill>
                  <a:schemeClr val="accent6">
                    <a:lumMod val="75000"/>
                  </a:schemeClr>
                </a:solidFill>
                <a:latin typeface="Meiryo"/>
              </a:rPr>
              <a:t> Cron が1日1回、自動で収集を実行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75248F5-ECEA-A52A-7E86-AB2038851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05" y="4800857"/>
            <a:ext cx="2057143" cy="2057143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C52ACA8-3C80-A48A-CB45-043ACF5B35CA}"/>
              </a:ext>
            </a:extLst>
          </p:cNvPr>
          <p:cNvSpPr txBox="1"/>
          <p:nvPr/>
        </p:nvSpPr>
        <p:spPr>
          <a:xfrm>
            <a:off x="2554856" y="1720706"/>
            <a:ext cx="3360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様々なサイトに対応できるように工夫</a:t>
            </a:r>
            <a:endParaRPr kumimoji="1" lang="en-US" altLang="ja-JP" sz="1600" dirty="0"/>
          </a:p>
          <a:p>
            <a:r>
              <a:rPr kumimoji="1" lang="en-US" altLang="ja-JP" sz="1600" dirty="0"/>
              <a:t>(</a:t>
            </a:r>
            <a:r>
              <a:rPr kumimoji="1" lang="ja-JP" altLang="en-US" sz="1600" dirty="0"/>
              <a:t>正規表現</a:t>
            </a:r>
            <a:r>
              <a:rPr kumimoji="1" lang="en-US" altLang="ja-JP" sz="1600" dirty="0"/>
              <a:t>+</a:t>
            </a:r>
            <a:r>
              <a:rPr kumimoji="1" lang="ja-JP" altLang="en-US" sz="1600" dirty="0"/>
              <a:t>ページネーションで実現）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C9DA07C-AB55-280F-5D62-97374FFC42D4}"/>
              </a:ext>
            </a:extLst>
          </p:cNvPr>
          <p:cNvSpPr txBox="1"/>
          <p:nvPr/>
        </p:nvSpPr>
        <p:spPr>
          <a:xfrm>
            <a:off x="1260711" y="4498861"/>
            <a:ext cx="930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accent6">
                    <a:lumMod val="75000"/>
                  </a:schemeClr>
                </a:solidFill>
              </a:rPr>
              <a:t>Vercel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の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回のリクエストにつき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60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秒制限ー＞収集を</a:t>
            </a:r>
            <a:r>
              <a:rPr kumimoji="1" lang="en-US" altLang="ja-JP" dirty="0">
                <a:solidFill>
                  <a:schemeClr val="accent6">
                    <a:lumMod val="75000"/>
                  </a:schemeClr>
                </a:solidFill>
              </a:rPr>
              <a:t>50</a:t>
            </a:r>
            <a:r>
              <a:rPr kumimoji="1" lang="ja-JP" altLang="en-US" dirty="0">
                <a:solidFill>
                  <a:schemeClr val="accent6">
                    <a:lumMod val="75000"/>
                  </a:schemeClr>
                </a:solidFill>
              </a:rPr>
              <a:t>秒で終了させる（取得済みはスキップ）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179DDE00-9FB5-4FC1-2967-1B107110AAAC}"/>
              </a:ext>
            </a:extLst>
          </p:cNvPr>
          <p:cNvSpPr/>
          <p:nvPr/>
        </p:nvSpPr>
        <p:spPr>
          <a:xfrm>
            <a:off x="3961796" y="2375434"/>
            <a:ext cx="484632" cy="38781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C2D939-88A5-4327-0A93-4BAC1A663592}"/>
              </a:ext>
            </a:extLst>
          </p:cNvPr>
          <p:cNvSpPr txBox="1"/>
          <p:nvPr/>
        </p:nvSpPr>
        <p:spPr>
          <a:xfrm>
            <a:off x="594571" y="5508983"/>
            <a:ext cx="9463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ja-JP" sz="1600" b="1" noProof="0" dirty="0">
                <a:solidFill>
                  <a:srgbClr val="1E293B"/>
                </a:solidFill>
                <a:latin typeface="Meiryo"/>
              </a:rPr>
              <a:t>•  AWS SDKを使わず aws4fetch でSigV4署名し、Bedrock/DynamoDBを軽量に直接呼び出し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6070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データ収集する上での</a:t>
            </a:r>
            <a:r>
              <a:rPr sz="3000" b="1" dirty="0" err="1">
                <a:solidFill>
                  <a:srgbClr val="1E293B"/>
                </a:solidFill>
                <a:latin typeface="Meiryo"/>
              </a:rPr>
              <a:t>著作権への配慮</a:t>
            </a:r>
            <a:endParaRPr sz="3000" b="1" dirty="0">
              <a:solidFill>
                <a:srgbClr val="1E293B"/>
              </a:solidFill>
              <a:latin typeface="Meiry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799" y="864783"/>
            <a:ext cx="6543137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Meiryo"/>
              </a:rPr>
              <a:t>差別化ポイント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74205"/>
            <a:ext cx="106070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全登録サイトの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 robots.txt</a:t>
            </a:r>
            <a:r>
              <a:rPr lang="ja-JP" altLang="en-US" sz="1800" b="1" dirty="0">
                <a:solidFill>
                  <a:srgbClr val="1E293B"/>
                </a:solidFill>
                <a:latin typeface="Meiryo"/>
              </a:rPr>
              <a:t>（検索エンジン、</a:t>
            </a:r>
            <a:r>
              <a:rPr lang="en-US" altLang="ja-JP" sz="1800" b="1" dirty="0">
                <a:solidFill>
                  <a:srgbClr val="1E293B"/>
                </a:solidFill>
                <a:latin typeface="Meiryo"/>
              </a:rPr>
              <a:t>AI</a:t>
            </a:r>
            <a:r>
              <a:rPr lang="ja-JP" altLang="en-US" sz="1800" b="1" dirty="0">
                <a:solidFill>
                  <a:srgbClr val="1E293B"/>
                </a:solidFill>
                <a:latin typeface="Meiryo"/>
              </a:rPr>
              <a:t>のデータ取集ルール）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・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利用規約を個別に調査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自治体公式サイトを優先（リスク低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）、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規約が厳しいサイトは画像OFF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除外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方針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: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画像は表示しない・要約は短く・必ず元記事へリンク送客</a:t>
            </a:r>
            <a:endParaRPr sz="1800" b="1" dirty="0">
              <a:solidFill>
                <a:srgbClr val="1E293B"/>
              </a:solidFill>
              <a:latin typeface="Meiryo"/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管理画面にサイト別の画像ON</a:t>
            </a:r>
            <a:r>
              <a:rPr sz="1800" b="1" dirty="0">
                <a:solidFill>
                  <a:srgbClr val="1E293B"/>
                </a:solidFill>
                <a:latin typeface="Meiryo"/>
              </a:rPr>
              <a:t>/</a:t>
            </a:r>
            <a:r>
              <a:rPr sz="1800" b="1" dirty="0" err="1">
                <a:solidFill>
                  <a:srgbClr val="1E293B"/>
                </a:solidFill>
                <a:latin typeface="Meiryo"/>
              </a:rPr>
              <a:t>OFF・規約メモ機能を実装</a:t>
            </a:r>
            <a:endParaRPr sz="1800" b="1" dirty="0">
              <a:solidFill>
                <a:srgbClr val="1E293B"/>
              </a:solidFill>
              <a:latin typeface="Meiryo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6EB42E3-0625-7B0A-02A8-C234D26C1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857" y="4800857"/>
            <a:ext cx="2057143" cy="205714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FD7DD1-946A-D737-D2B4-D07C320B95F2}"/>
              </a:ext>
            </a:extLst>
          </p:cNvPr>
          <p:cNvSpPr txBox="1"/>
          <p:nvPr/>
        </p:nvSpPr>
        <p:spPr>
          <a:xfrm>
            <a:off x="640080" y="4064380"/>
            <a:ext cx="9776604" cy="3949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ja-JP" altLang="en-US" sz="30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今後の展望</a:t>
            </a:r>
            <a:br>
              <a:rPr lang="en-US" altLang="ja-JP" sz="3200" b="1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常時起動サーバーへ移行し、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60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秒制限を撤廃（自宅サーバー 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/ Render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等）</a:t>
            </a: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参照元から消えたイベントの同期、終了イベントの自動整理</a:t>
            </a: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  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収集対象サイトの拡大（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20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市町を網羅）</a:t>
            </a:r>
          </a:p>
          <a:p>
            <a:pPr>
              <a:spcAft>
                <a:spcPts val="1400"/>
              </a:spcAft>
            </a:pP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•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　多言語化（</a:t>
            </a:r>
            <a:r>
              <a:rPr lang="en-US" altLang="ja-JP" b="1" dirty="0" err="1">
                <a:solidFill>
                  <a:srgbClr val="1E293B"/>
                </a:solidFill>
                <a:latin typeface="Meiryo"/>
              </a:rPr>
              <a:t>vercel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の</a:t>
            </a:r>
            <a:r>
              <a:rPr lang="en-US" altLang="ja-JP" b="1" dirty="0">
                <a:solidFill>
                  <a:srgbClr val="1E293B"/>
                </a:solidFill>
                <a:latin typeface="Meiryo"/>
              </a:rPr>
              <a:t>60</a:t>
            </a:r>
            <a:r>
              <a:rPr lang="ja-JP" altLang="en-US" b="1" dirty="0">
                <a:solidFill>
                  <a:srgbClr val="1E293B"/>
                </a:solidFill>
                <a:latin typeface="Meiryo"/>
              </a:rPr>
              <a:t>秒制限により厳しい）</a:t>
            </a:r>
          </a:p>
          <a:p>
            <a:endParaRPr lang="en-US" altLang="ja-JP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3200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ja-JP" altLang="en-US" sz="3200" b="1" dirty="0">
              <a:solidFill>
                <a:srgbClr val="1E293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7FC7D8E-401F-AF14-436C-119B638F0BB6}"/>
              </a:ext>
            </a:extLst>
          </p:cNvPr>
          <p:cNvSpPr/>
          <p:nvPr/>
        </p:nvSpPr>
        <p:spPr>
          <a:xfrm>
            <a:off x="769476" y="4491672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000" dirty="0">
                <a:solidFill>
                  <a:srgbClr val="FFFFFF"/>
                </a:solidFill>
                <a:latin typeface="Meiryo"/>
              </a:rPr>
              <a:t>✓　愛媛県内のイベントが一目でわかるサイトを作成</a:t>
            </a: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TypeScript + React + Hono + Bedrock GLM-5 + DynamoDB を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Vercel</a:t>
            </a:r>
            <a:r>
              <a:rPr sz="2000" dirty="0">
                <a:solidFill>
                  <a:srgbClr val="FFFFFF"/>
                </a:solidFill>
                <a:latin typeface="Meiryo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で運用</a:t>
            </a:r>
            <a:endParaRPr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スクレイピング〜AI要約〜表示までを自動化し、愛媛のイベントを一元化</a:t>
            </a:r>
            <a:endParaRPr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FFFFFF"/>
                </a:solidFill>
                <a:latin typeface="Meiryo"/>
              </a:rPr>
              <a:t>✓  </a:t>
            </a:r>
            <a:r>
              <a:rPr sz="2000" dirty="0" err="1">
                <a:solidFill>
                  <a:srgbClr val="FFFFFF"/>
                </a:solidFill>
                <a:latin typeface="Meiryo"/>
              </a:rPr>
              <a:t>時間制限・AI特性・著作権といった制約に、現実的な工夫で対応</a:t>
            </a: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lang="en-US" sz="20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ja-JP" altLang="en-US" sz="1400" dirty="0">
                <a:solidFill>
                  <a:srgbClr val="FFFFFF"/>
                </a:solidFill>
                <a:latin typeface="Meiryo"/>
              </a:rPr>
              <a:t>データの出典</a:t>
            </a:r>
            <a:endParaRPr lang="en-US" altLang="ja-JP" sz="14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https://www.city.matsuyama.ehime.jp/kanko/kankoguide/matsurievent/index.html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https://www.city.imabari.ehime.jp/event/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https://www.city.ozu.ehime.jp/soshiki/list6-1.html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r>
              <a:rPr lang="en-US" sz="1200" dirty="0">
                <a:solidFill>
                  <a:schemeClr val="bg1"/>
                </a:solidFill>
                <a:latin typeface="Meiry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https://www.town.ainan.ehime.jp/kanko/sightseeing/matsuri/</a:t>
            </a:r>
            <a:endParaRPr lang="en-US" sz="1200" dirty="0">
              <a:solidFill>
                <a:schemeClr val="bg1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lang="en-US" sz="1400" dirty="0">
              <a:solidFill>
                <a:srgbClr val="FFFFFF"/>
              </a:solidFill>
              <a:latin typeface="Meiryo"/>
            </a:endParaRPr>
          </a:p>
          <a:p>
            <a:pPr>
              <a:spcAft>
                <a:spcPts val="1800"/>
              </a:spcAft>
            </a:pPr>
            <a:endParaRPr sz="1400" dirty="0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F181D-F53E-A31C-CDE8-185013EA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審査員からの質問事項への回答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C25516-0BC5-767F-A680-0B078734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541528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ja-JP" altLang="en-US" sz="2600" b="1" dirty="0">
                <a:solidFill>
                  <a:srgbClr val="0070C0"/>
                </a:solidFill>
              </a:rPr>
              <a:t>質問①</a:t>
            </a:r>
            <a:endParaRPr kumimoji="1" lang="en-US" altLang="ja-JP" sz="2600" b="1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kumimoji="1" lang="ja-JP" altLang="en-US" sz="2600" dirty="0"/>
              <a:t>今回の</a:t>
            </a:r>
            <a:r>
              <a:rPr kumimoji="1" lang="en-US" altLang="ja-JP" sz="2600" dirty="0"/>
              <a:t>AI</a:t>
            </a:r>
            <a:r>
              <a:rPr kumimoji="1" lang="ja-JP" altLang="en-US" sz="2600" dirty="0"/>
              <a:t>コンテストで作成されたアプリケーションを実装・展開する場合、利用対象者にどのような場面やアプローチで利用者を増やしていく想定でしょうか？</a:t>
            </a:r>
            <a:endParaRPr kumimoji="1" lang="en-US" altLang="ja-JP" sz="26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回答①</a:t>
            </a:r>
            <a:endParaRPr lang="en-US" altLang="ja-JP" sz="2600" b="1" dirty="0">
              <a:solidFill>
                <a:schemeClr val="accent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kumimoji="1" lang="ja-JP" altLang="en-US" sz="2600" dirty="0"/>
              <a:t>　</a:t>
            </a:r>
            <a:r>
              <a:rPr lang="en-US" altLang="ja-JP" sz="2600" dirty="0"/>
              <a:t>	</a:t>
            </a:r>
            <a:r>
              <a:rPr lang="ja-JP" altLang="en-US" sz="2600" dirty="0"/>
              <a:t>情報提供元との連携、</a:t>
            </a:r>
            <a:r>
              <a:rPr lang="en-US" altLang="ja-JP" sz="2600" dirty="0"/>
              <a:t>SNS</a:t>
            </a:r>
            <a:r>
              <a:rPr lang="ja-JP" altLang="en-US" sz="2600" dirty="0"/>
              <a:t>を利用して利用者を増やしていきたいと考えています</a:t>
            </a:r>
            <a:endParaRPr kumimoji="1" lang="en-US" altLang="ja-JP" sz="2600" dirty="0"/>
          </a:p>
          <a:p>
            <a:pPr marL="0" indent="0">
              <a:lnSpc>
                <a:spcPct val="120000"/>
              </a:lnSpc>
              <a:buNone/>
            </a:pPr>
            <a:endParaRPr kumimoji="1" lang="en-US" altLang="ja-JP" sz="26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b="1" dirty="0">
                <a:solidFill>
                  <a:srgbClr val="0070C0"/>
                </a:solidFill>
              </a:rPr>
              <a:t>質問②</a:t>
            </a:r>
            <a:endParaRPr lang="en-US" altLang="ja-JP" sz="2600" b="1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dirty="0"/>
              <a:t>今回のアプリケーションのゴール（目標設定）として、利用者数や利用対象範囲（愛媛、四国、全国、海外等）をどのように想定していますか？</a:t>
            </a:r>
            <a:endParaRPr lang="en-US" altLang="ja-JP" sz="26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回答②</a:t>
            </a:r>
            <a:endParaRPr lang="en-US" altLang="ja-JP" sz="2600" b="1" dirty="0">
              <a:solidFill>
                <a:schemeClr val="accent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sz="2600" dirty="0"/>
              <a:t>	</a:t>
            </a:r>
            <a:r>
              <a:rPr lang="ja-JP" altLang="en-US" sz="2600" dirty="0"/>
              <a:t>スクレイパーと</a:t>
            </a:r>
            <a:r>
              <a:rPr lang="en-US" altLang="ja-JP" sz="2600" dirty="0"/>
              <a:t>AI</a:t>
            </a:r>
            <a:r>
              <a:rPr lang="ja-JP" altLang="en-US" sz="2600" dirty="0"/>
              <a:t>要約は特定サイトに依存しない汎用設計なので、最終的には全国に対応したいです</a:t>
            </a:r>
            <a:endParaRPr lang="en-US" altLang="ja-JP" sz="2600" dirty="0"/>
          </a:p>
          <a:p>
            <a:pPr marL="0" indent="0">
              <a:lnSpc>
                <a:spcPct val="120000"/>
              </a:lnSpc>
              <a:buNone/>
            </a:pPr>
            <a:endParaRPr lang="en-US" altLang="ja-JP" sz="26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b="1" dirty="0">
                <a:solidFill>
                  <a:srgbClr val="0070C0"/>
                </a:solidFill>
              </a:rPr>
              <a:t>質問③</a:t>
            </a:r>
            <a:endParaRPr lang="en-US" altLang="ja-JP" sz="2600" b="1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dirty="0"/>
              <a:t>質問②のゴールを達成するプロセスや方法を想定されていたら教えてください。</a:t>
            </a:r>
            <a:endParaRPr lang="en-US" altLang="ja-JP" sz="26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600" b="1" dirty="0">
                <a:solidFill>
                  <a:schemeClr val="accent2"/>
                </a:solidFill>
              </a:rPr>
              <a:t>回答③</a:t>
            </a:r>
            <a:endParaRPr lang="en-US" altLang="ja-JP" sz="2600" b="1" dirty="0">
              <a:solidFill>
                <a:schemeClr val="accent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sz="2600" dirty="0"/>
              <a:t>	</a:t>
            </a:r>
            <a:r>
              <a:rPr lang="ja-JP" altLang="en-US" sz="2600" dirty="0"/>
              <a:t>とりあえず</a:t>
            </a:r>
            <a:r>
              <a:rPr lang="en-US" altLang="ja-JP" sz="2600" dirty="0"/>
              <a:t>google search</a:t>
            </a:r>
            <a:r>
              <a:rPr lang="ja-JP" altLang="en-US" sz="2600" dirty="0"/>
              <a:t>に登録、そして愛媛県での使用実績</a:t>
            </a:r>
            <a:r>
              <a:rPr lang="ja-JP" altLang="en-US" sz="2600"/>
              <a:t>を積んでいきたいと考えています</a:t>
            </a:r>
            <a:endParaRPr lang="en-US" altLang="ja-JP" sz="2600" dirty="0"/>
          </a:p>
          <a:p>
            <a:pPr marL="0" indent="0">
              <a:lnSpc>
                <a:spcPct val="120000"/>
              </a:lnSpc>
              <a:buNone/>
            </a:pPr>
            <a:endParaRPr lang="en-US" altLang="ja-JP" sz="2600" b="1" dirty="0">
              <a:solidFill>
                <a:schemeClr val="accent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ja-JP" sz="26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9384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732</Words>
  <Application>Microsoft Office PowerPoint</Application>
  <PresentationFormat>ワイド画面</PresentationFormat>
  <Paragraphs>111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7" baseType="lpstr">
      <vt:lpstr>Meiryo</vt:lpstr>
      <vt:lpstr>Meiryo</vt:lpstr>
      <vt:lpstr>游ゴシック</vt:lpstr>
      <vt:lpstr>游ゴシック Light</vt:lpstr>
      <vt:lpstr>Arial</vt:lpstr>
      <vt:lpstr>Calibri</vt:lpstr>
      <vt:lpstr>Office Theme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審査員からの質問事項への回答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Owner</dc:creator>
  <cp:keywords/>
  <dc:description>generated using python-pptx</dc:description>
  <cp:lastModifiedBy>two witchcraft</cp:lastModifiedBy>
  <cp:revision>15</cp:revision>
  <dcterms:created xsi:type="dcterms:W3CDTF">2013-01-27T09:14:16Z</dcterms:created>
  <dcterms:modified xsi:type="dcterms:W3CDTF">2026-07-08T01:31:11Z</dcterms:modified>
  <cp:category/>
</cp:coreProperties>
</file>